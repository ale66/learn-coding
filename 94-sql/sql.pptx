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6.xml" ContentType="application/vnd.openxmlformats-officedocument.theme+xml"/>
  <Override PartName="/ppt/theme/theme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5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0.xml" ContentType="application/vnd.openxmlformats-officedocument.theme+xml"/>
  <Override PartName="/ppt/theme/theme2.xml" ContentType="application/vnd.openxmlformats-officedocument.theme+xml"/>
  <Override PartName="/ppt/theme/theme29.xml" ContentType="application/vnd.openxmlformats-officedocument.theme+xml"/>
  <Override PartName="/ppt/theme/theme21.xml" ContentType="application/vnd.openxmlformats-officedocument.theme+xml"/>
  <Override PartName="/ppt/theme/theme3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24.xml" ContentType="application/vnd.openxmlformats-officedocument.theme+xml"/>
  <Override PartName="/ppt/theme/theme6.xml" ContentType="application/vnd.openxmlformats-officedocument.theme+xml"/>
  <Override PartName="/ppt/theme/theme42.xml" ContentType="application/vnd.openxmlformats-officedocument.theme+xml"/>
  <Override PartName="/ppt/theme/theme25.xml" ContentType="application/vnd.openxmlformats-officedocument.theme+xml"/>
  <Override PartName="/ppt/theme/theme7.xml" ContentType="application/vnd.openxmlformats-officedocument.theme+xml"/>
  <Override PartName="/ppt/theme/theme43.xml" ContentType="application/vnd.openxmlformats-officedocument.theme+xml"/>
  <Override PartName="/ppt/theme/theme8.xml" ContentType="application/vnd.openxmlformats-officedocument.theme+xml"/>
  <Override PartName="/ppt/theme/theme44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2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5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_rels/slideMaster22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9.xml.rels" ContentType="application/vnd.openxmlformats-package.relationships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presProps.xml" ContentType="application/vnd.openxmlformats-officedocument.presentationml.presProps+xml"/>
  <Override PartName="/ppt/media/image1.tif" ContentType="image/tiff"/>
  <Override PartName="/ppt/media/image3.png" ContentType="image/png"/>
  <Override PartName="/ppt/media/image2.png" ContentType="image/png"/>
  <Override PartName="/ppt/media/image20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0.png" ContentType="image/png"/>
  <Override PartName="/ppt/media/image9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slides/slide4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46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47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_rels/slide22.xml.rels" ContentType="application/vnd.openxmlformats-package.relationships+xml"/>
  <Override PartName="/ppt/slides/_rels/slide35.xml.rels" ContentType="application/vnd.openxmlformats-package.relationships+xml"/>
  <Override PartName="/ppt/slides/_rels/slide45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0.xml.rels" ContentType="application/vnd.openxmlformats-package.relationships+xml"/>
  <Override PartName="/ppt/slides/_rels/slide46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47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4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42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43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44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</p:sldMasterIdLst>
  <p:sldIdLst>
    <p:sldId id="256" r:id="rId47"/>
    <p:sldId id="257" r:id="rId48"/>
    <p:sldId id="258" r:id="rId49"/>
    <p:sldId id="259" r:id="rId50"/>
    <p:sldId id="260" r:id="rId51"/>
    <p:sldId id="261" r:id="rId52"/>
    <p:sldId id="262" r:id="rId53"/>
    <p:sldId id="263" r:id="rId54"/>
    <p:sldId id="264" r:id="rId55"/>
    <p:sldId id="265" r:id="rId56"/>
    <p:sldId id="266" r:id="rId57"/>
    <p:sldId id="267" r:id="rId58"/>
    <p:sldId id="268" r:id="rId59"/>
    <p:sldId id="269" r:id="rId60"/>
    <p:sldId id="270" r:id="rId61"/>
    <p:sldId id="271" r:id="rId62"/>
    <p:sldId id="272" r:id="rId63"/>
    <p:sldId id="273" r:id="rId64"/>
    <p:sldId id="274" r:id="rId65"/>
    <p:sldId id="275" r:id="rId66"/>
    <p:sldId id="276" r:id="rId67"/>
    <p:sldId id="277" r:id="rId68"/>
    <p:sldId id="278" r:id="rId69"/>
    <p:sldId id="279" r:id="rId70"/>
    <p:sldId id="280" r:id="rId71"/>
    <p:sldId id="281" r:id="rId72"/>
    <p:sldId id="282" r:id="rId73"/>
    <p:sldId id="283" r:id="rId74"/>
    <p:sldId id="284" r:id="rId75"/>
    <p:sldId id="285" r:id="rId76"/>
    <p:sldId id="286" r:id="rId77"/>
    <p:sldId id="287" r:id="rId78"/>
    <p:sldId id="288" r:id="rId79"/>
    <p:sldId id="289" r:id="rId80"/>
    <p:sldId id="290" r:id="rId81"/>
    <p:sldId id="291" r:id="rId82"/>
    <p:sldId id="292" r:id="rId83"/>
    <p:sldId id="293" r:id="rId84"/>
    <p:sldId id="294" r:id="rId85"/>
    <p:sldId id="295" r:id="rId86"/>
    <p:sldId id="296" r:id="rId87"/>
    <p:sldId id="297" r:id="rId88"/>
    <p:sldId id="298" r:id="rId89"/>
    <p:sldId id="299" r:id="rId90"/>
    <p:sldId id="300" r:id="rId91"/>
    <p:sldId id="301" r:id="rId92"/>
    <p:sldId id="302" r:id="rId9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" Target="slides/slide1.xml"/><Relationship Id="rId48" Type="http://schemas.openxmlformats.org/officeDocument/2006/relationships/slide" Target="slides/slide2.xml"/><Relationship Id="rId49" Type="http://schemas.openxmlformats.org/officeDocument/2006/relationships/slide" Target="slides/slide3.xml"/><Relationship Id="rId50" Type="http://schemas.openxmlformats.org/officeDocument/2006/relationships/slide" Target="slides/slide4.xml"/><Relationship Id="rId51" Type="http://schemas.openxmlformats.org/officeDocument/2006/relationships/slide" Target="slides/slide5.xml"/><Relationship Id="rId52" Type="http://schemas.openxmlformats.org/officeDocument/2006/relationships/slide" Target="slides/slide6.xml"/><Relationship Id="rId53" Type="http://schemas.openxmlformats.org/officeDocument/2006/relationships/slide" Target="slides/slide7.xml"/><Relationship Id="rId54" Type="http://schemas.openxmlformats.org/officeDocument/2006/relationships/slide" Target="slides/slide8.xml"/><Relationship Id="rId55" Type="http://schemas.openxmlformats.org/officeDocument/2006/relationships/slide" Target="slides/slide9.xml"/><Relationship Id="rId56" Type="http://schemas.openxmlformats.org/officeDocument/2006/relationships/slide" Target="slides/slide10.xml"/><Relationship Id="rId57" Type="http://schemas.openxmlformats.org/officeDocument/2006/relationships/slide" Target="slides/slide11.xml"/><Relationship Id="rId58" Type="http://schemas.openxmlformats.org/officeDocument/2006/relationships/slide" Target="slides/slide12.xml"/><Relationship Id="rId59" Type="http://schemas.openxmlformats.org/officeDocument/2006/relationships/slide" Target="slides/slide13.xml"/><Relationship Id="rId60" Type="http://schemas.openxmlformats.org/officeDocument/2006/relationships/slide" Target="slides/slide14.xml"/><Relationship Id="rId61" Type="http://schemas.openxmlformats.org/officeDocument/2006/relationships/slide" Target="slides/slide15.xml"/><Relationship Id="rId62" Type="http://schemas.openxmlformats.org/officeDocument/2006/relationships/slide" Target="slides/slide16.xml"/><Relationship Id="rId63" Type="http://schemas.openxmlformats.org/officeDocument/2006/relationships/slide" Target="slides/slide17.xml"/><Relationship Id="rId64" Type="http://schemas.openxmlformats.org/officeDocument/2006/relationships/slide" Target="slides/slide18.xml"/><Relationship Id="rId65" Type="http://schemas.openxmlformats.org/officeDocument/2006/relationships/slide" Target="slides/slide19.xml"/><Relationship Id="rId66" Type="http://schemas.openxmlformats.org/officeDocument/2006/relationships/slide" Target="slides/slide20.xml"/><Relationship Id="rId67" Type="http://schemas.openxmlformats.org/officeDocument/2006/relationships/slide" Target="slides/slide21.xml"/><Relationship Id="rId68" Type="http://schemas.openxmlformats.org/officeDocument/2006/relationships/slide" Target="slides/slide22.xml"/><Relationship Id="rId69" Type="http://schemas.openxmlformats.org/officeDocument/2006/relationships/slide" Target="slides/slide23.xml"/><Relationship Id="rId70" Type="http://schemas.openxmlformats.org/officeDocument/2006/relationships/slide" Target="slides/slide24.xml"/><Relationship Id="rId71" Type="http://schemas.openxmlformats.org/officeDocument/2006/relationships/slide" Target="slides/slide25.xml"/><Relationship Id="rId72" Type="http://schemas.openxmlformats.org/officeDocument/2006/relationships/slide" Target="slides/slide26.xml"/><Relationship Id="rId73" Type="http://schemas.openxmlformats.org/officeDocument/2006/relationships/slide" Target="slides/slide27.xml"/><Relationship Id="rId74" Type="http://schemas.openxmlformats.org/officeDocument/2006/relationships/slide" Target="slides/slide28.xml"/><Relationship Id="rId75" Type="http://schemas.openxmlformats.org/officeDocument/2006/relationships/slide" Target="slides/slide29.xml"/><Relationship Id="rId76" Type="http://schemas.openxmlformats.org/officeDocument/2006/relationships/slide" Target="slides/slide30.xml"/><Relationship Id="rId77" Type="http://schemas.openxmlformats.org/officeDocument/2006/relationships/slide" Target="slides/slide31.xml"/><Relationship Id="rId78" Type="http://schemas.openxmlformats.org/officeDocument/2006/relationships/slide" Target="slides/slide32.xml"/><Relationship Id="rId79" Type="http://schemas.openxmlformats.org/officeDocument/2006/relationships/slide" Target="slides/slide33.xml"/><Relationship Id="rId80" Type="http://schemas.openxmlformats.org/officeDocument/2006/relationships/slide" Target="slides/slide34.xml"/><Relationship Id="rId81" Type="http://schemas.openxmlformats.org/officeDocument/2006/relationships/slide" Target="slides/slide35.xml"/><Relationship Id="rId82" Type="http://schemas.openxmlformats.org/officeDocument/2006/relationships/slide" Target="slides/slide36.xml"/><Relationship Id="rId83" Type="http://schemas.openxmlformats.org/officeDocument/2006/relationships/slide" Target="slides/slide37.xml"/><Relationship Id="rId84" Type="http://schemas.openxmlformats.org/officeDocument/2006/relationships/slide" Target="slides/slide38.xml"/><Relationship Id="rId85" Type="http://schemas.openxmlformats.org/officeDocument/2006/relationships/slide" Target="slides/slide39.xml"/><Relationship Id="rId86" Type="http://schemas.openxmlformats.org/officeDocument/2006/relationships/slide" Target="slides/slide40.xml"/><Relationship Id="rId87" Type="http://schemas.openxmlformats.org/officeDocument/2006/relationships/slide" Target="slides/slide41.xml"/><Relationship Id="rId88" Type="http://schemas.openxmlformats.org/officeDocument/2006/relationships/slide" Target="slides/slide42.xml"/><Relationship Id="rId89" Type="http://schemas.openxmlformats.org/officeDocument/2006/relationships/slide" Target="slides/slide43.xml"/><Relationship Id="rId90" Type="http://schemas.openxmlformats.org/officeDocument/2006/relationships/slide" Target="slides/slide44.xml"/><Relationship Id="rId91" Type="http://schemas.openxmlformats.org/officeDocument/2006/relationships/slide" Target="slides/slide45.xml"/><Relationship Id="rId92" Type="http://schemas.openxmlformats.org/officeDocument/2006/relationships/slide" Target="slides/slide46.xml"/><Relationship Id="rId93" Type="http://schemas.openxmlformats.org/officeDocument/2006/relationships/slide" Target="slides/slide47.xml"/><Relationship Id="rId9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2"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064F755-E834-418A-8D90-BC9C0D43D217}" type="slidenum">
              <a: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1</a:t>
            </a:fld>
            <a:endParaRPr b="0" lang="en-GB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3"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FC66AE0-3255-4B38-8B0C-B22E91E9B36E}" type="slidenum">
              <a: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&lt;number&gt;</a:t>
            </a:fld>
            <a:endParaRPr b="0" lang="en-GB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34"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PlaceHolder 5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8452975-EDE5-4B78-9395-98D497C7874F}" type="slidenum">
              <a: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&lt;number&gt;</a:t>
            </a:fld>
            <a:endParaRPr b="0" lang="en-GB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PlaceHolder 6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5"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6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PlaceHolder 7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791C35F-3819-4116-902D-DC340042BBC4}" type="slidenum">
              <a: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&lt;number&gt;</a:t>
            </a:fld>
            <a:endParaRPr b="0" lang="en-GB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PlaceHolder 8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6"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2679DC3-61A4-4409-99C8-0F3D789A353F}" type="slidenum">
              <a: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&lt;number&gt;</a:t>
            </a:fld>
            <a:endParaRPr b="0" lang="en-GB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PlaceHolder 5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7"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210A87-5762-40D7-903B-897B1AAEB33A}" type="slidenum">
              <a: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&lt;number&gt;</a:t>
            </a:fld>
            <a:endParaRPr b="0" lang="en-GB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PlaceHolder 4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8"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PlaceHolder 5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4E8424C-0F5A-4CB7-ABAA-452935E30402}" type="slidenum">
              <a: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&lt;number&gt;</a:t>
            </a:fld>
            <a:endParaRPr b="0" lang="en-GB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PlaceHolder 6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39"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5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PlaceHolder 6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3126F7-DCAB-4AB1-9FD3-A2D577B3A75F}" type="slidenum">
              <a: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&lt;number&gt;</a:t>
            </a:fld>
            <a:endParaRPr b="0" lang="en-GB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PlaceHolder 7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40"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5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PlaceHolder 6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4F24C5C-18CE-4D5F-93CE-D2AA81AD9949}" type="slidenum">
              <a: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&lt;number&gt;</a:t>
            </a:fld>
            <a:endParaRPr b="0" lang="en-GB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PlaceHolder 7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Blank Slide_"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5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PlaceHolder 6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F920293-5CD3-4EBD-8898-614E35DD10C7}" type="slidenum">
              <a: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&lt;number&gt;</a:t>
            </a:fld>
            <a:endParaRPr b="0" lang="en-GB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PlaceHolder 7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41"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581C9C9-8E06-4142-B179-B2AB0A994F83}" type="slidenum">
              <a: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&lt;number&gt;</a:t>
            </a:fld>
            <a:endParaRPr b="0" lang="en-GB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42"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FA8FF0A-D52D-4E80-AFC6-D163630AE7FC}" type="slidenum">
              <a: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&lt;number&gt;</a:t>
            </a:fld>
            <a:endParaRPr b="0" lang="en-GB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2"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F4C81CC-D699-48B5-867D-FA781D4A1D61}" type="slidenum">
              <a: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&lt;number&gt;</a:t>
            </a:fld>
            <a:endParaRPr b="0" lang="en-GB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42"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A7A0973-04DD-4B5F-8BD6-F1F2171DF0F2}" type="slidenum">
              <a: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&lt;number&gt;</a:t>
            </a:fld>
            <a:endParaRPr b="0" lang="en-GB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42"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A66BE4-B9BA-4100-9291-7D855B4BE6CF}" type="slidenum">
              <a: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&lt;number&gt;</a:t>
            </a:fld>
            <a:endParaRPr b="0" lang="en-GB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2"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2B5266D-33A3-4383-A289-C46D5700809A}" type="slidenum">
              <a: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&lt;number&gt;</a:t>
            </a:fld>
            <a:endParaRPr b="0" lang="en-GB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2"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90416E3-F12C-4B99-A377-FAA31E67831A}" type="slidenum">
              <a: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&lt;number&gt;</a:t>
            </a:fld>
            <a:endParaRPr b="0" lang="en-GB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2"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D4F98E7-E3B5-4D15-95A8-4F54F24864D0}" type="slidenum">
              <a: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&lt;number&gt;</a:t>
            </a:fld>
            <a:endParaRPr b="0" lang="en-GB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42"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AB384D-4BDA-4058-96B4-6E1CB6F8D7C5}" type="slidenum">
              <a: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&lt;number&gt;</a:t>
            </a:fld>
            <a:endParaRPr b="0" lang="en-GB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42"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2AD1B56-2B2A-4114-8B8F-3DCFE44E45D3}" type="slidenum">
              <a: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&lt;number&gt;</a:t>
            </a:fld>
            <a:endParaRPr b="0" lang="en-GB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3"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30BB43-1771-4135-B92C-EB940B28D2CA}" type="slidenum">
              <a: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&lt;number&gt;</a:t>
            </a:fld>
            <a:endParaRPr b="0" lang="en-GB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44"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067FB41-B8ED-45DE-A42E-228294CE1E3B}" type="slidenum">
              <a: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&lt;number&gt;</a:t>
            </a:fld>
            <a:endParaRPr b="0" lang="en-GB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45"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ftr" idx="67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 type="sldNum" idx="68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A019B2F-6897-48D2-A4EA-CEB845462B3A}" type="slidenum">
              <a: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&lt;number&gt;</a:t>
            </a:fld>
            <a:endParaRPr b="0" lang="en-GB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46"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ftr" idx="70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sldNum" idx="71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2AF6E53-9596-4C43-A492-E20C70DB69E4}" type="slidenum">
              <a: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&lt;number&gt;</a:t>
            </a:fld>
            <a:endParaRPr b="0" lang="en-GB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47"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ftr" idx="73"/>
          </p:nvPr>
        </p:nvSpPr>
        <p:spPr>
          <a:xfrm>
            <a:off x="4038480" y="6356520"/>
            <a:ext cx="41122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 type="sldNum" idx="74"/>
          </p:nvPr>
        </p:nvSpPr>
        <p:spPr>
          <a:xfrm>
            <a:off x="86104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A9FD90-2432-4854-A823-1F11BBC4BBD5}" type="slidenum">
              <a:rPr b="0" lang="en-GB" sz="12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&lt;number&gt;</a:t>
            </a:fld>
            <a:endParaRPr b="0" lang="en-GB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dt" idx="75"/>
          </p:nvPr>
        </p:nvSpPr>
        <p:spPr>
          <a:xfrm>
            <a:off x="838080" y="6356520"/>
            <a:ext cx="2740680" cy="36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8.xml"/><Relationship Id="rId6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0.xml"/><Relationship Id="rId8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58.xml"/><Relationship Id="rId16" Type="http://schemas.openxmlformats.org/officeDocument/2006/relationships/slideLayout" Target="../slideLayouts/slideLayout59.xml"/><Relationship Id="rId17" Type="http://schemas.openxmlformats.org/officeDocument/2006/relationships/slideLayout" Target="../slideLayouts/slideLayout60.xml"/><Relationship Id="rId18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62.xml"/><Relationship Id="rId20" Type="http://schemas.openxmlformats.org/officeDocument/2006/relationships/slideLayout" Target="../slideLayouts/slideLayout63.xml"/><Relationship Id="rId21" Type="http://schemas.openxmlformats.org/officeDocument/2006/relationships/slideLayout" Target="../slideLayouts/slideLayout64.xml"/><Relationship Id="rId22" Type="http://schemas.openxmlformats.org/officeDocument/2006/relationships/slideLayout" Target="../slideLayouts/slideLayout65.xml"/><Relationship Id="rId23" Type="http://schemas.openxmlformats.org/officeDocument/2006/relationships/slideLayout" Target="../slideLayouts/slideLayout66.xml"/><Relationship Id="rId24" Type="http://schemas.openxmlformats.org/officeDocument/2006/relationships/slideLayout" Target="../slideLayouts/slideLayout67.xml"/><Relationship Id="rId25" Type="http://schemas.openxmlformats.org/officeDocument/2006/relationships/slideLayout" Target="../slideLayouts/slideLayout68.xml"/><Relationship Id="rId26" Type="http://schemas.openxmlformats.org/officeDocument/2006/relationships/slideLayout" Target="../slideLayouts/slideLayout6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84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  <p:sldLayoutId id="2147483754" r:id="rId19"/>
    <p:sldLayoutId id="2147483755" r:id="rId20"/>
    <p:sldLayoutId id="2147483756" r:id="rId21"/>
    <p:sldLayoutId id="2147483757" r:id="rId22"/>
    <p:sldLayoutId id="2147483758" r:id="rId23"/>
    <p:sldLayoutId id="2147483759" r:id="rId24"/>
    <p:sldLayoutId id="2147483760" r:id="rId25"/>
    <p:sldLayoutId id="2147483761" r:id="rId2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tif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spectrum.ieee.org/python" TargetMode="External"/><Relationship Id="rId2" Type="http://schemas.openxmlformats.org/officeDocument/2006/relationships/slideLayout" Target="../slideLayouts/slideLayout2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en.wikipedia.org/wiki/Semi-structured_data" TargetMode="External"/><Relationship Id="rId2" Type="http://schemas.openxmlformats.org/officeDocument/2006/relationships/slideLayout" Target="../slideLayouts/slideLayout2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hyperlink" Target="https://en.wikipedia.org/wiki/XML" TargetMode="External"/><Relationship Id="rId3" Type="http://schemas.openxmlformats.org/officeDocument/2006/relationships/slideLayout" Target="../slideLayouts/slideLayout2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hyperlink" Target="https://en.wikipedia.org/wiki/JSON" TargetMode="External"/><Relationship Id="rId3" Type="http://schemas.openxmlformats.org/officeDocument/2006/relationships/slideLayout" Target="../slideLayouts/slideLayout2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hyperlink" Target="https://en.wikipedia.org/wiki/Data_model" TargetMode="External"/><Relationship Id="rId2" Type="http://schemas.openxmlformats.org/officeDocument/2006/relationships/slideLayout" Target="../slideLayouts/slideLayout2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hyperlink" Target="https://www.oracle.com/uk/database/what-is-database.html" TargetMode="External"/><Relationship Id="rId2" Type="http://schemas.openxmlformats.org/officeDocument/2006/relationships/slideLayout" Target="../slideLayouts/slideLayout2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hyperlink" Target="https://db-engines.com/en/ranking" TargetMode="External"/><Relationship Id="rId2" Type="http://schemas.openxmlformats.org/officeDocument/2006/relationships/slideLayout" Target="../slideLayouts/slideLayout2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hyperlink" Target="https://www.w3schools.com/sql/sql_create_table.asp" TargetMode="External"/><Relationship Id="rId2" Type="http://schemas.openxmlformats.org/officeDocument/2006/relationships/slideLayout" Target="../slideLayouts/slideLayout5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5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57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7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5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57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7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7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57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57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57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57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57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57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5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57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57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57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57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57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7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57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57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57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5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-50760" y="2376360"/>
            <a:ext cx="6150240" cy="1579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CA" sz="5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Relational DBs &amp; the SQL language</a:t>
            </a:r>
            <a:endParaRPr b="0" lang="en-GB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 type="subTitle"/>
          </p:nvPr>
        </p:nvSpPr>
        <p:spPr>
          <a:xfrm>
            <a:off x="110880" y="4602240"/>
            <a:ext cx="5585400" cy="47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{‘auth’:[‘ap’, ‘ss’, ‘da’, `am’]}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3" name="Picture 3" descr=""/>
          <p:cNvPicPr/>
          <p:nvPr/>
        </p:nvPicPr>
        <p:blipFill>
          <a:blip r:embed="rId1"/>
          <a:stretch/>
        </p:blipFill>
        <p:spPr>
          <a:xfrm>
            <a:off x="6036480" y="46080"/>
            <a:ext cx="615312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4" name="Rectangle 4"/>
          <p:cNvSpPr/>
          <p:nvPr/>
        </p:nvSpPr>
        <p:spPr>
          <a:xfrm>
            <a:off x="6036480" y="700560"/>
            <a:ext cx="781200" cy="4930920"/>
          </a:xfrm>
          <a:prstGeom prst="rect">
            <a:avLst/>
          </a:prstGeom>
          <a:solidFill>
            <a:srgbClr val="6ca3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5" name="Rectangle 5"/>
          <p:cNvSpPr/>
          <p:nvPr/>
        </p:nvSpPr>
        <p:spPr>
          <a:xfrm>
            <a:off x="11721960" y="595440"/>
            <a:ext cx="463680" cy="4930920"/>
          </a:xfrm>
          <a:prstGeom prst="rect">
            <a:avLst/>
          </a:prstGeom>
          <a:solidFill>
            <a:srgbClr val="6ca3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6" name="Rectangle 7"/>
          <p:cNvSpPr/>
          <p:nvPr/>
        </p:nvSpPr>
        <p:spPr>
          <a:xfrm>
            <a:off x="7632720" y="1523880"/>
            <a:ext cx="2276280" cy="1110600"/>
          </a:xfrm>
          <a:prstGeom prst="rect">
            <a:avLst/>
          </a:prstGeom>
          <a:solidFill>
            <a:srgbClr val="d6e1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7" name="TextBox 6"/>
          <p:cNvSpPr/>
          <p:nvPr/>
        </p:nvSpPr>
        <p:spPr>
          <a:xfrm>
            <a:off x="8086320" y="1301400"/>
            <a:ext cx="335628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2000" strike="noStrike" u="none">
                <a:solidFill>
                  <a:srgbClr val="2e75b6"/>
                </a:solidFill>
                <a:effectLst/>
                <a:uFillTx/>
                <a:latin typeface="Courier New"/>
                <a:ea typeface="Microsoft JhengHei"/>
              </a:rPr>
              <a:t>Demystifying</a:t>
            </a:r>
            <a:br>
              <a:rPr sz="1800"/>
            </a:br>
            <a:r>
              <a:rPr b="1" lang="en-GB" sz="2000" strike="noStrike" u="none">
                <a:solidFill>
                  <a:srgbClr val="002060"/>
                </a:solidFill>
                <a:effectLst/>
                <a:uFillTx/>
                <a:latin typeface="Courier New"/>
                <a:ea typeface="Microsoft JhengHei"/>
              </a:rPr>
              <a:t>Computing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GB" sz="2000" strike="noStrike" u="none">
                <a:solidFill>
                  <a:srgbClr val="ff0000"/>
                </a:solidFill>
                <a:effectLst/>
                <a:uFillTx/>
                <a:latin typeface="Courier New"/>
                <a:ea typeface="Microsoft JhengHei"/>
              </a:rPr>
              <a:t>with</a:t>
            </a:r>
            <a:r>
              <a:rPr b="1" lang="en-GB" sz="2000" strike="noStrike" u="none">
                <a:solidFill>
                  <a:srgbClr val="000000"/>
                </a:solidFill>
                <a:effectLst/>
                <a:uFillTx/>
                <a:latin typeface="Courier New"/>
                <a:ea typeface="Microsoft JhengHei"/>
              </a:rPr>
              <a:t> 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GB" sz="2400" strike="noStrike" u="none">
                <a:solidFill>
                  <a:srgbClr val="002060"/>
                </a:solidFill>
                <a:effectLst/>
                <a:uFillTx/>
                <a:latin typeface="Courier New"/>
                <a:ea typeface="Microsoft JhengHei"/>
              </a:rPr>
              <a:t>Python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This unit: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/>
          </p:nvPr>
        </p:nvSpPr>
        <p:spPr>
          <a:xfrm>
            <a:off x="838080" y="3293640"/>
            <a:ext cx="5178960" cy="288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2800" strike="noStrike" u="none">
                <a:solidFill>
                  <a:srgbClr val="ffc000"/>
                </a:solidFill>
                <a:effectLst/>
                <a:uFillTx/>
                <a:latin typeface="Verdana"/>
                <a:ea typeface="Verdana"/>
              </a:rPr>
              <a:t>1</a:t>
            </a: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. Introduction to Database Management systems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Some theory on databases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2800" strike="noStrike" u="none">
                <a:solidFill>
                  <a:srgbClr val="ffc000"/>
                </a:solidFill>
                <a:effectLst/>
                <a:uFillTx/>
                <a:latin typeface="Verdana"/>
                <a:ea typeface="Verdana"/>
              </a:rPr>
              <a:t>2</a:t>
            </a: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. Introduction to SQL and SQL by Python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Content Placeholder 4"/>
          <p:cNvSpPr/>
          <p:nvPr/>
        </p:nvSpPr>
        <p:spPr>
          <a:xfrm>
            <a:off x="838080" y="1690560"/>
            <a:ext cx="6614280" cy="11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Wingdings" charset="2"/>
              <a:buChar char="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Introduction to structured vs. unstructured data, relational databases.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Rectangle 2"/>
          <p:cNvSpPr/>
          <p:nvPr/>
        </p:nvSpPr>
        <p:spPr>
          <a:xfrm>
            <a:off x="7670160" y="0"/>
            <a:ext cx="4519440" cy="6855480"/>
          </a:xfrm>
          <a:prstGeom prst="rect">
            <a:avLst/>
          </a:prstGeom>
          <a:solidFill>
            <a:srgbClr val="002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00b0f0"/>
                </a:solidFill>
                <a:effectLst/>
                <a:uFillTx/>
                <a:latin typeface="Calibri"/>
                <a:ea typeface="DejaVu Sans"/>
              </a:rPr>
              <a:t>SELECT</a:t>
            </a:r>
            <a:r>
              <a:rPr b="0" lang="en-GB" sz="2800" strike="noStrike" u="none">
                <a:solidFill>
                  <a:srgbClr val="ffc000"/>
                </a:solidFill>
                <a:effectLst/>
                <a:uFillTx/>
                <a:latin typeface="Calibri"/>
                <a:ea typeface="DejaVu Sans"/>
              </a:rPr>
              <a:t> Pizza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00b0f0"/>
                </a:solidFill>
                <a:effectLst/>
                <a:uFillTx/>
                <a:latin typeface="Calibri"/>
                <a:ea typeface="DejaVu Sans"/>
              </a:rPr>
              <a:t>FROM</a:t>
            </a:r>
            <a:r>
              <a:rPr b="0" lang="en-GB" sz="2800" strike="noStrike" u="none">
                <a:solidFill>
                  <a:srgbClr val="ffc000"/>
                </a:solidFill>
                <a:effectLst/>
                <a:uFillTx/>
                <a:latin typeface="Calibri"/>
                <a:ea typeface="DejaVu Sans"/>
              </a:rPr>
              <a:t> Freezer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00b0f0"/>
                </a:solidFill>
                <a:effectLst/>
                <a:uFillTx/>
                <a:latin typeface="Calibri"/>
                <a:ea typeface="DejaVu Sans"/>
              </a:rPr>
              <a:t>WHERE</a:t>
            </a:r>
            <a:r>
              <a:rPr b="0" lang="en-GB" sz="2800" strike="noStrike" u="none">
                <a:solidFill>
                  <a:srgbClr val="ffc000"/>
                </a:solidFill>
                <a:effectLst/>
                <a:uFillTx/>
                <a:latin typeface="Calibri"/>
                <a:ea typeface="DejaVu Sans"/>
              </a:rPr>
              <a:t> Pepperoni </a:t>
            </a:r>
            <a:r>
              <a:rPr b="0" lang="en-GB" sz="2800" strike="noStrike" u="none">
                <a:solidFill>
                  <a:srgbClr val="00b0f0"/>
                </a:solidFill>
                <a:effectLst/>
                <a:uFillTx/>
                <a:latin typeface="Calibri"/>
                <a:ea typeface="DejaVu Sans"/>
              </a:rPr>
              <a:t>=</a:t>
            </a:r>
            <a:r>
              <a:rPr b="0" lang="en-GB" sz="2800" strike="noStrike" u="none">
                <a:solidFill>
                  <a:srgbClr val="ffc000"/>
                </a:solidFill>
                <a:effectLst/>
                <a:uFillTx/>
                <a:latin typeface="Calibri"/>
                <a:ea typeface="DejaVu Sans"/>
              </a:rPr>
              <a:t> 10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800" strike="noStrike" u="none">
                <a:solidFill>
                  <a:srgbClr val="00b0f0"/>
                </a:solidFill>
                <a:effectLst/>
                <a:uFillTx/>
                <a:latin typeface="Calibri"/>
                <a:ea typeface="DejaVu Sans"/>
              </a:rPr>
              <a:t>AND</a:t>
            </a:r>
            <a:r>
              <a:rPr b="0" lang="en-GB" sz="2800" strike="noStrike" u="none">
                <a:solidFill>
                  <a:srgbClr val="ffc000"/>
                </a:solidFill>
                <a:effectLst/>
                <a:uFillTx/>
                <a:latin typeface="Calibri"/>
                <a:ea typeface="DejaVu Sans"/>
              </a:rPr>
              <a:t> Olives </a:t>
            </a:r>
            <a:r>
              <a:rPr b="0" lang="en-GB" sz="2800" strike="noStrike" u="none">
                <a:solidFill>
                  <a:srgbClr val="00b0f0"/>
                </a:solidFill>
                <a:effectLst/>
                <a:uFillTx/>
                <a:latin typeface="Calibri"/>
                <a:ea typeface="DejaVu Sans"/>
              </a:rPr>
              <a:t>=</a:t>
            </a:r>
            <a:r>
              <a:rPr b="0" lang="en-GB" sz="2800" strike="noStrike" u="none">
                <a:solidFill>
                  <a:srgbClr val="ffc000"/>
                </a:solidFill>
                <a:effectLst/>
                <a:uFillTx/>
                <a:latin typeface="Calibri"/>
                <a:ea typeface="DejaVu Sans"/>
              </a:rPr>
              <a:t> ‘Black’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Rectangle 4"/>
          <p:cNvSpPr/>
          <p:nvPr/>
        </p:nvSpPr>
        <p:spPr>
          <a:xfrm>
            <a:off x="3960" y="0"/>
            <a:ext cx="12185640" cy="1616400"/>
          </a:xfrm>
          <a:prstGeom prst="rect">
            <a:avLst/>
          </a:prstGeom>
          <a:solidFill>
            <a:srgbClr val="2642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Data organisation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/>
          </p:nvPr>
        </p:nvSpPr>
        <p:spPr>
          <a:xfrm>
            <a:off x="85500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Structured data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Clearly defined data types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A data model (called schema) defines the data</a:t>
            </a: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	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Data type (e.g. integer), data format (e.g. +44 (079) 444 4444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Data model defines rules and constraints!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E.g. salary should be &gt;0, first name cannot be empty etc.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Unstructured data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Internal structure is not pre defined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There is no data model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1000"/>
                                        <p:tgtEl>
                                          <p:spTgt spid="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1000" fill="hold"/>
                                        <p:tgtEl>
                                          <p:spTgt spid="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" dur="1000"/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5" dur="1000" fill="hold"/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" dur="1000" fill="hold"/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" dur="1000"/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2" dur="1000" fill="hold"/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" dur="1000" fill="hold"/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" dur="1000"/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7" dur="1000" fill="hold"/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1000" fill="hold"/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" dur="1000"/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4" dur="1000" fill="hold"/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" dur="1000" fill="hold"/>
                                        <p:tgtEl>
                                          <p:spTgt spid="3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" dur="1000"/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9" dur="1000" fill="hold"/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" dur="1000" fill="hold"/>
                                        <p:tgtEl>
                                          <p:spTgt spid="3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" dur="1000"/>
                                        <p:tgtEl>
                                          <p:spTgt spid="3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6" dur="1000" fill="hold"/>
                                        <p:tgtEl>
                                          <p:spTgt spid="3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" dur="1000" fill="hold"/>
                                        <p:tgtEl>
                                          <p:spTgt spid="3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" dur="1000"/>
                                        <p:tgtEl>
                                          <p:spTgt spid="3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3" dur="1000" fill="hold"/>
                                        <p:tgtEl>
                                          <p:spTgt spid="3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" dur="1000" fill="hold"/>
                                        <p:tgtEl>
                                          <p:spTgt spid="3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" dur="1000"/>
                                        <p:tgtEl>
                                          <p:spTgt spid="3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0" dur="1000" fill="hold"/>
                                        <p:tgtEl>
                                          <p:spTgt spid="3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1" dur="1000" fill="hold"/>
                                        <p:tgtEl>
                                          <p:spTgt spid="3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Rectangle 4"/>
          <p:cNvSpPr/>
          <p:nvPr/>
        </p:nvSpPr>
        <p:spPr>
          <a:xfrm>
            <a:off x="3960" y="0"/>
            <a:ext cx="12185640" cy="1616400"/>
          </a:xfrm>
          <a:prstGeom prst="rect">
            <a:avLst/>
          </a:prstGeom>
          <a:solidFill>
            <a:srgbClr val="2642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Structured vs Unstructured data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9120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Structured data resides in relational databases: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6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a database structured to recognise relations between stored items of data</a:t>
            </a:r>
            <a:endParaRPr b="0" lang="en-GB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Unstructured data is everything else!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6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Text files, emails, websites, media, social media etc.</a:t>
            </a:r>
            <a:endParaRPr b="0" lang="en-GB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8" name="Picture 2" descr="Structured vs. Unstructured Data iceberg diagram"/>
          <p:cNvPicPr/>
          <p:nvPr/>
        </p:nvPicPr>
        <p:blipFill>
          <a:blip r:embed="rId1"/>
          <a:stretch/>
        </p:blipFill>
        <p:spPr>
          <a:xfrm>
            <a:off x="4610520" y="1887480"/>
            <a:ext cx="6740640" cy="449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2" dur="indefinite" restart="never" nodeType="tmRoot">
          <p:childTnLst>
            <p:seq>
              <p:cTn id="63" dur="indefinite" nodeType="mainSeq">
                <p:childTnLst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" dur="1000"/>
                                        <p:tgtEl>
                                          <p:spTgt spid="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4" dur="1000" fill="hold"/>
                                        <p:tgtEl>
                                          <p:spTgt spid="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5" dur="1000" fill="hold"/>
                                        <p:tgtEl>
                                          <p:spTgt spid="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0" dur="1000"/>
                                        <p:tgtEl>
                                          <p:spTgt spid="3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1" dur="1000" fill="hold"/>
                                        <p:tgtEl>
                                          <p:spTgt spid="3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2" dur="1000" fill="hold"/>
                                        <p:tgtEl>
                                          <p:spTgt spid="3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" dur="1000"/>
                                        <p:tgtEl>
                                          <p:spTgt spid="3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8" dur="1000" fill="hold"/>
                                        <p:tgtEl>
                                          <p:spTgt spid="3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9" dur="1000" fill="hold"/>
                                        <p:tgtEl>
                                          <p:spTgt spid="3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4" dur="1000"/>
                                        <p:tgtEl>
                                          <p:spTgt spid="3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5" dur="1000" fill="hold"/>
                                        <p:tgtEl>
                                          <p:spTgt spid="3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6" dur="1000" fill="hold"/>
                                        <p:tgtEl>
                                          <p:spTgt spid="3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Rectangle 4"/>
          <p:cNvSpPr/>
          <p:nvPr/>
        </p:nvSpPr>
        <p:spPr>
          <a:xfrm>
            <a:off x="3960" y="0"/>
            <a:ext cx="12185640" cy="1616400"/>
          </a:xfrm>
          <a:prstGeom prst="rect">
            <a:avLst/>
          </a:prstGeom>
          <a:solidFill>
            <a:srgbClr val="2642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In detail … Structured data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Clearly defined data types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Designed in a way to be easy to search data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Usually stored in </a:t>
            </a:r>
            <a:r>
              <a:rPr b="0" lang="en-US" sz="2800" strike="noStrike" u="none">
                <a:solidFill>
                  <a:srgbClr val="ffc000"/>
                </a:solidFill>
                <a:effectLst/>
                <a:uFillTx/>
                <a:latin typeface="Verdana"/>
                <a:ea typeface="Verdana"/>
              </a:rPr>
              <a:t>relational</a:t>
            </a: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 databases 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Relational database management systems (RDBMS)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Fields (column titles) easy to manage using constraints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To interact with RDBMS we use the </a:t>
            </a:r>
            <a:r>
              <a:rPr b="0" i="1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Structured Query Language</a:t>
            </a: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 (SQL)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Extract and manipulate data based on queries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57200" indent="-228600" defTabSz="9144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the top programming language by mentions in job adverts for technical positions [</a:t>
            </a:r>
            <a:r>
              <a:rPr b="0" lang="en-US" sz="1800" strike="noStrike" u="sng">
                <a:solidFill>
                  <a:srgbClr val="0563c1"/>
                </a:solidFill>
                <a:effectLst/>
                <a:uFillTx/>
                <a:latin typeface="Verdana"/>
                <a:ea typeface="Verdana"/>
                <a:hlinkClick r:id="rId1"/>
              </a:rPr>
              <a:t>IEEE Spectrum, Aug. 2023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]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7" dur="indefinite" restart="never" nodeType="tmRoot">
          <p:childTnLst>
            <p:seq>
              <p:cTn id="98" dur="indefinite" nodeType="mainSeq">
                <p:childTnLst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" dur="1000"/>
                                        <p:tgtEl>
                                          <p:spTgt spid="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04" dur="1000" fill="hold"/>
                                        <p:tgtEl>
                                          <p:spTgt spid="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5" dur="1000" fill="hold"/>
                                        <p:tgtEl>
                                          <p:spTgt spid="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0" dur="1000"/>
                                        <p:tgtEl>
                                          <p:spTgt spid="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1" dur="1000" fill="hold"/>
                                        <p:tgtEl>
                                          <p:spTgt spid="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2" dur="1000" fill="hold"/>
                                        <p:tgtEl>
                                          <p:spTgt spid="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7" dur="1000"/>
                                        <p:tgtEl>
                                          <p:spTgt spid="3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18" dur="1000" fill="hold"/>
                                        <p:tgtEl>
                                          <p:spTgt spid="3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9" dur="1000" fill="hold"/>
                                        <p:tgtEl>
                                          <p:spTgt spid="3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2" dur="1000"/>
                                        <p:tgtEl>
                                          <p:spTgt spid="3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23" dur="1000" fill="hold"/>
                                        <p:tgtEl>
                                          <p:spTgt spid="3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4" dur="1000" fill="hold"/>
                                        <p:tgtEl>
                                          <p:spTgt spid="3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9" dur="1000"/>
                                        <p:tgtEl>
                                          <p:spTgt spid="3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0" dur="1000" fill="hold"/>
                                        <p:tgtEl>
                                          <p:spTgt spid="3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1" dur="1000" fill="hold"/>
                                        <p:tgtEl>
                                          <p:spTgt spid="3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6" dur="1000"/>
                                        <p:tgtEl>
                                          <p:spTgt spid="3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37" dur="1000" fill="hold"/>
                                        <p:tgtEl>
                                          <p:spTgt spid="3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8" dur="1000" fill="hold"/>
                                        <p:tgtEl>
                                          <p:spTgt spid="3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1" dur="1000"/>
                                        <p:tgtEl>
                                          <p:spTgt spid="3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42" dur="1000" fill="hold"/>
                                        <p:tgtEl>
                                          <p:spTgt spid="3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3" dur="1000" fill="hold"/>
                                        <p:tgtEl>
                                          <p:spTgt spid="3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6" dur="1000"/>
                                        <p:tgtEl>
                                          <p:spTgt spid="3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47" dur="1000" fill="hold"/>
                                        <p:tgtEl>
                                          <p:spTgt spid="3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8" dur="1000" fill="hold"/>
                                        <p:tgtEl>
                                          <p:spTgt spid="3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Rectangle 4"/>
          <p:cNvSpPr/>
          <p:nvPr/>
        </p:nvSpPr>
        <p:spPr>
          <a:xfrm>
            <a:off x="3960" y="0"/>
            <a:ext cx="12185640" cy="1616400"/>
          </a:xfrm>
          <a:prstGeom prst="rect">
            <a:avLst/>
          </a:prstGeom>
          <a:solidFill>
            <a:srgbClr val="2642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In detail … Unstructured data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Have some internal structure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There is no clear data model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It could be difficult to search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Unstructured data stored in NoSQL database systems.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Examples: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Text files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Emails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9" dur="indefinite" restart="never" nodeType="tmRoot">
          <p:childTnLst>
            <p:seq>
              <p:cTn id="150" dur="indefinite" nodeType="mainSeq">
                <p:childTnLst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5" dur="1000"/>
                                        <p:tgtEl>
                                          <p:spTgt spid="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56" dur="1000" fill="hold"/>
                                        <p:tgtEl>
                                          <p:spTgt spid="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7" dur="1000" fill="hold"/>
                                        <p:tgtEl>
                                          <p:spTgt spid="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2" dur="1000"/>
                                        <p:tgtEl>
                                          <p:spTgt spid="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63" dur="1000" fill="hold"/>
                                        <p:tgtEl>
                                          <p:spTgt spid="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4" dur="1000" fill="hold"/>
                                        <p:tgtEl>
                                          <p:spTgt spid="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9" dur="1000"/>
                                        <p:tgtEl>
                                          <p:spTgt spid="3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70" dur="1000" fill="hold"/>
                                        <p:tgtEl>
                                          <p:spTgt spid="3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1" dur="1000" fill="hold"/>
                                        <p:tgtEl>
                                          <p:spTgt spid="3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6" dur="1000"/>
                                        <p:tgtEl>
                                          <p:spTgt spid="3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77" dur="1000" fill="hold"/>
                                        <p:tgtEl>
                                          <p:spTgt spid="3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8" dur="1000" fill="hold"/>
                                        <p:tgtEl>
                                          <p:spTgt spid="3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3" dur="1000"/>
                                        <p:tgtEl>
                                          <p:spTgt spid="3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84" dur="1000" fill="hold"/>
                                        <p:tgtEl>
                                          <p:spTgt spid="3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5" dur="1000" fill="hold"/>
                                        <p:tgtEl>
                                          <p:spTgt spid="3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8" dur="1000"/>
                                        <p:tgtEl>
                                          <p:spTgt spid="3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89" dur="1000" fill="hold"/>
                                        <p:tgtEl>
                                          <p:spTgt spid="3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0" dur="1000" fill="hold"/>
                                        <p:tgtEl>
                                          <p:spTgt spid="3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3" dur="1000"/>
                                        <p:tgtEl>
                                          <p:spTgt spid="3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194" dur="1000" fill="hold"/>
                                        <p:tgtEl>
                                          <p:spTgt spid="3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95" dur="1000" fill="hold"/>
                                        <p:tgtEl>
                                          <p:spTgt spid="3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Rectangle 4"/>
          <p:cNvSpPr/>
          <p:nvPr/>
        </p:nvSpPr>
        <p:spPr>
          <a:xfrm>
            <a:off x="3960" y="0"/>
            <a:ext cx="12185640" cy="1616400"/>
          </a:xfrm>
          <a:prstGeom prst="rect">
            <a:avLst/>
          </a:prstGeom>
          <a:solidFill>
            <a:srgbClr val="2642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Structured vs Unstructured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7" name="Picture 6" descr=""/>
          <p:cNvPicPr/>
          <p:nvPr/>
        </p:nvPicPr>
        <p:blipFill>
          <a:blip r:embed="rId1"/>
          <a:stretch/>
        </p:blipFill>
        <p:spPr>
          <a:xfrm>
            <a:off x="2636640" y="1788480"/>
            <a:ext cx="6638040" cy="4701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6" dur="indefinite" restart="never" nodeType="tmRoot">
          <p:childTnLst>
            <p:seq>
              <p:cTn id="197" dur="indefinite" nodeType="mainSeq">
                <p:childTnLst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2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Rectangle 4"/>
          <p:cNvSpPr/>
          <p:nvPr/>
        </p:nvSpPr>
        <p:spPr>
          <a:xfrm>
            <a:off x="3960" y="0"/>
            <a:ext cx="12185640" cy="1616400"/>
          </a:xfrm>
          <a:prstGeom prst="rect">
            <a:avLst/>
          </a:prstGeom>
          <a:solidFill>
            <a:srgbClr val="2642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Semi-structured data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2500"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1" lang="en-CA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Semi</a:t>
            </a:r>
            <a:r>
              <a:rPr b="0" lang="en-CA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-</a:t>
            </a:r>
            <a:r>
              <a:rPr b="1" lang="en-CA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structured data</a:t>
            </a:r>
            <a:r>
              <a:rPr b="0" lang="en-CA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 is a form of </a:t>
            </a:r>
            <a:r>
              <a:rPr b="1" lang="en-CA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structured data</a:t>
            </a:r>
            <a:r>
              <a:rPr b="0" lang="en-CA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 that does not obey the formal </a:t>
            </a:r>
            <a:r>
              <a:rPr b="1" lang="en-CA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structure</a:t>
            </a:r>
            <a:r>
              <a:rPr b="0" lang="en-CA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 of </a:t>
            </a:r>
            <a:r>
              <a:rPr b="1" lang="en-CA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data</a:t>
            </a:r>
            <a:r>
              <a:rPr b="0" lang="en-CA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 models associated with relational databases or other forms of </a:t>
            </a:r>
            <a:r>
              <a:rPr b="1" lang="en-CA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data</a:t>
            </a:r>
            <a:r>
              <a:rPr b="0" lang="en-CA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 tables, but nonetheless contains tags or other markers to separate semantic elements and enforce hierarchies of records and fields within the </a:t>
            </a:r>
            <a:r>
              <a:rPr b="1" lang="en-CA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data</a:t>
            </a:r>
            <a:r>
              <a:rPr b="0" lang="en-CA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. [</a:t>
            </a:r>
            <a:r>
              <a:rPr b="0" lang="en-CA" sz="2800" strike="noStrike" u="sng">
                <a:solidFill>
                  <a:srgbClr val="0563c1"/>
                </a:solidFill>
                <a:effectLst/>
                <a:uFillTx/>
                <a:latin typeface="Verdana"/>
                <a:ea typeface="Verdana"/>
                <a:hlinkClick r:id="rId1"/>
              </a:rPr>
              <a:t>Wikipedia</a:t>
            </a:r>
            <a:r>
              <a:rPr b="0" lang="en-CA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]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CA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Examples</a:t>
            </a: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: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JSON 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XML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NoSQL systems: Ideally systems to store Semi-structured data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03" dur="indefinite" restart="never" nodeType="tmRoot">
          <p:childTnLst>
            <p:seq>
              <p:cTn id="204" dur="indefinite" nodeType="mainSeq">
                <p:childTnLst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9" dur="1000"/>
                                        <p:tgtEl>
                                          <p:spTgt spid="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10" dur="1000" fill="hold"/>
                                        <p:tgtEl>
                                          <p:spTgt spid="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1" dur="1000" fill="hold"/>
                                        <p:tgtEl>
                                          <p:spTgt spid="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6" dur="1000"/>
                                        <p:tgtEl>
                                          <p:spTgt spid="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17" dur="1000" fill="hold"/>
                                        <p:tgtEl>
                                          <p:spTgt spid="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8" dur="1000" fill="hold"/>
                                        <p:tgtEl>
                                          <p:spTgt spid="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9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1" dur="1000"/>
                                        <p:tgtEl>
                                          <p:spTgt spid="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22" dur="1000" fill="hold"/>
                                        <p:tgtEl>
                                          <p:spTgt spid="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3" dur="1000" fill="hold"/>
                                        <p:tgtEl>
                                          <p:spTgt spid="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4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6" dur="1000"/>
                                        <p:tgtEl>
                                          <p:spTgt spid="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27" dur="1000" fill="hold"/>
                                        <p:tgtEl>
                                          <p:spTgt spid="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8" dur="1000" fill="hold"/>
                                        <p:tgtEl>
                                          <p:spTgt spid="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3" dur="1000"/>
                                        <p:tgtEl>
                                          <p:spTgt spid="3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34" dur="1000" fill="hold"/>
                                        <p:tgtEl>
                                          <p:spTgt spid="3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5" dur="1000" fill="hold"/>
                                        <p:tgtEl>
                                          <p:spTgt spid="3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Rectangle 4"/>
          <p:cNvSpPr/>
          <p:nvPr/>
        </p:nvSpPr>
        <p:spPr>
          <a:xfrm>
            <a:off x="3960" y="-34560"/>
            <a:ext cx="6462000" cy="1827360"/>
          </a:xfrm>
          <a:prstGeom prst="rect">
            <a:avLst/>
          </a:prstGeom>
          <a:solidFill>
            <a:srgbClr val="2642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469656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Example of XML file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3" name="Picture 3" descr=""/>
          <p:cNvPicPr/>
          <p:nvPr/>
        </p:nvPicPr>
        <p:blipFill>
          <a:blip r:embed="rId1"/>
          <a:stretch/>
        </p:blipFill>
        <p:spPr>
          <a:xfrm>
            <a:off x="6468480" y="-34560"/>
            <a:ext cx="5721120" cy="689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4" name="TextBox 5"/>
          <p:cNvSpPr/>
          <p:nvPr/>
        </p:nvSpPr>
        <p:spPr>
          <a:xfrm>
            <a:off x="438120" y="2616120"/>
            <a:ext cx="5852160" cy="14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Extensible Markup Language (XML) is a markup language that</a:t>
            </a: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defines a set of rules for encoding</a:t>
            </a: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documents in a format that is both human-readable and machine-readable. 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Source: </a:t>
            </a:r>
            <a:r>
              <a:rPr b="0" lang="en-GB" sz="1800" strike="noStrike" u="sng">
                <a:solidFill>
                  <a:srgbClr val="0563c1"/>
                </a:solidFill>
                <a:effectLst/>
                <a:uFillTx/>
                <a:latin typeface="Calibri"/>
                <a:ea typeface="DejaVu Sans"/>
                <a:hlinkClick r:id="rId2"/>
              </a:rPr>
              <a:t>https://en.wikipedia.org/wiki/XML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Rectangle 7"/>
          <p:cNvSpPr/>
          <p:nvPr/>
        </p:nvSpPr>
        <p:spPr>
          <a:xfrm>
            <a:off x="0" y="4780440"/>
            <a:ext cx="12189600" cy="2075040"/>
          </a:xfrm>
          <a:prstGeom prst="rect">
            <a:avLst/>
          </a:prstGeom>
          <a:solidFill>
            <a:srgbClr val="002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Example of JSON file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7" name="Content Placeholder 4" descr=""/>
          <p:cNvPicPr/>
          <p:nvPr/>
        </p:nvPicPr>
        <p:blipFill>
          <a:blip r:embed="rId1"/>
          <a:stretch/>
        </p:blipFill>
        <p:spPr>
          <a:xfrm>
            <a:off x="1035000" y="2069280"/>
            <a:ext cx="3159720" cy="238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8" name="TextBox 5"/>
          <p:cNvSpPr/>
          <p:nvPr/>
        </p:nvSpPr>
        <p:spPr>
          <a:xfrm>
            <a:off x="887760" y="5029200"/>
            <a:ext cx="1031544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In computing, JavaScript Object Notation (JSON) (/ˈdʒeɪsən/ "Jason"[1][2]) is an open-standard file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format that uses human-readable text to transmit data objects consisting of attribute–value pairs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and array data types (or any other serializable value).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Source: </a:t>
            </a:r>
            <a:r>
              <a:rPr b="0" lang="en-GB" sz="2000" strike="noStrike" u="sng">
                <a:solidFill>
                  <a:srgbClr val="0563c1"/>
                </a:solidFill>
                <a:effectLst/>
                <a:uFillTx/>
                <a:latin typeface="Calibri"/>
                <a:ea typeface="DejaVu Sans"/>
                <a:hlinkClick r:id="rId2"/>
              </a:rPr>
              <a:t>https://en.wikipedia.org/wiki/JSON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6" dur="indefinite" restart="never" nodeType="tmRoot">
          <p:childTnLst>
            <p:seq>
              <p:cTn id="237" dur="indefinite" nodeType="mainSeq">
                <p:childTnLst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2" dur="10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43" dur="1000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4" dur="1000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9" dur="10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50" dur="10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1" dur="100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Summary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2500"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Structured data: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Examples: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Airline reservation system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Inventory control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Semi-structured data: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Examples: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Data generated from systems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Data collected from a pulse monitoring device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Unstructured data: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Examples: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Email clients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Word processing documents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Logs and reports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9144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Rectangle 6"/>
          <p:cNvSpPr/>
          <p:nvPr/>
        </p:nvSpPr>
        <p:spPr>
          <a:xfrm>
            <a:off x="3960" y="0"/>
            <a:ext cx="12185640" cy="1616400"/>
          </a:xfrm>
          <a:prstGeom prst="rect">
            <a:avLst/>
          </a:prstGeom>
          <a:solidFill>
            <a:srgbClr val="2642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Relational databases: a logical view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/>
          </p:nvPr>
        </p:nvSpPr>
        <p:spPr>
          <a:xfrm>
            <a:off x="838080" y="2221560"/>
            <a:ext cx="6679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5000"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data is structured in tables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intuitive organisation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easier to control/search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more restrictive and less ad hoc/ambigous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 than arbitrary spreadsheet tables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i="1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table</a:t>
            </a: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 is defined as a 2-D data structure with rows (records) and columns (attributes/labels)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the attributes row (aka </a:t>
            </a:r>
            <a:r>
              <a:rPr b="0" i="1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schema</a:t>
            </a: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) is special: names must be unique &amp; have fixed data type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a </a:t>
            </a:r>
            <a:r>
              <a:rPr b="0" i="1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relational database</a:t>
            </a: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 is a set of such tables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04" name="Table 3"/>
          <p:cNvGraphicFramePr/>
          <p:nvPr/>
        </p:nvGraphicFramePr>
        <p:xfrm>
          <a:off x="6844680" y="1959840"/>
          <a:ext cx="5101920" cy="1483200"/>
        </p:xfrm>
        <a:graphic>
          <a:graphicData uri="http://schemas.openxmlformats.org/drawingml/2006/table">
            <a:tbl>
              <a:tblPr/>
              <a:tblGrid>
                <a:gridCol w="989640"/>
                <a:gridCol w="979200"/>
                <a:gridCol w="1043640"/>
                <a:gridCol w="208980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User_id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Fname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Lname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Phone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1001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Stelios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Sotiriadis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07912341234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1002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Niki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Andrea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07976543421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1003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George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Martin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07912341234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</a:tbl>
          </a:graphicData>
        </a:graphic>
      </p:graphicFrame>
      <p:sp>
        <p:nvSpPr>
          <p:cNvPr id="405" name="Rounded Rectangle 5"/>
          <p:cNvSpPr/>
          <p:nvPr/>
        </p:nvSpPr>
        <p:spPr>
          <a:xfrm>
            <a:off x="5859360" y="2683800"/>
            <a:ext cx="6085440" cy="366840"/>
          </a:xfrm>
          <a:prstGeom prst="roundRect">
            <a:avLst>
              <a:gd name="adj" fmla="val 16667"/>
            </a:avLst>
          </a:prstGeom>
          <a:solidFill>
            <a:srgbClr val="f2f2f2">
              <a:alpha val="17000"/>
            </a:srgb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Calibri"/>
                <a:ea typeface="DejaVu Sans"/>
              </a:rPr>
              <a:t>record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Rounded Rectangle 7"/>
          <p:cNvSpPr/>
          <p:nvPr/>
        </p:nvSpPr>
        <p:spPr>
          <a:xfrm>
            <a:off x="9880560" y="1609560"/>
            <a:ext cx="2064240" cy="1938960"/>
          </a:xfrm>
          <a:prstGeom prst="roundRect">
            <a:avLst>
              <a:gd name="adj" fmla="val 7945"/>
            </a:avLst>
          </a:prstGeom>
          <a:solidFill>
            <a:srgbClr val="f2f2f2">
              <a:alpha val="17000"/>
            </a:srgbClr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ffff00"/>
                </a:solidFill>
                <a:effectLst/>
                <a:uFillTx/>
                <a:latin typeface="Calibri"/>
                <a:ea typeface="DejaVu Sans"/>
              </a:rPr>
              <a:t>Attribute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2" dur="indefinite" restart="never" nodeType="tmRoot">
          <p:childTnLst>
            <p:seq>
              <p:cTn id="253" dur="indefinite" nodeType="mainSeq">
                <p:childTnLst>
                  <p:par>
                    <p:cTn id="254" fill="hold">
                      <p:stCondLst>
                        <p:cond delay="0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8" dur="1000"/>
                                        <p:tgtEl>
                                          <p:spTgt spid="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59" dur="1000" fill="hold"/>
                                        <p:tgtEl>
                                          <p:spTgt spid="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0" dur="1000" fill="hold"/>
                                        <p:tgtEl>
                                          <p:spTgt spid="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3" dur="1000"/>
                                        <p:tgtEl>
                                          <p:spTgt spid="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64" dur="1000" fill="hold"/>
                                        <p:tgtEl>
                                          <p:spTgt spid="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5" dur="1000" fill="hold"/>
                                        <p:tgtEl>
                                          <p:spTgt spid="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Rectangle 3"/>
          <p:cNvSpPr/>
          <p:nvPr/>
        </p:nvSpPr>
        <p:spPr>
          <a:xfrm>
            <a:off x="3960" y="0"/>
            <a:ext cx="12185640" cy="1616400"/>
          </a:xfrm>
          <a:prstGeom prst="rect">
            <a:avLst/>
          </a:prstGeom>
          <a:solidFill>
            <a:srgbClr val="2642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Table characteristics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A table includes attributes: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1" lang="en-GB" sz="2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Keys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00"/>
              </a:buClr>
              <a:buFont typeface="Arial"/>
              <a:buChar char="•"/>
            </a:pPr>
            <a:r>
              <a:rPr b="0" lang="en-GB" sz="2000" strike="noStrike" u="sng">
                <a:solidFill>
                  <a:srgbClr val="ffff00"/>
                </a:solidFill>
                <a:effectLst/>
                <a:uFillTx/>
                <a:latin typeface="Verdana"/>
                <a:ea typeface="Verdana"/>
              </a:rPr>
              <a:t>Primary Key (PK):</a:t>
            </a: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Verdana"/>
                <a:ea typeface="Verdana"/>
              </a:rPr>
              <a:t> </a:t>
            </a: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An attribute that </a:t>
            </a:r>
            <a:r>
              <a:rPr b="0" lang="en-GB" sz="2000" strike="noStrike" u="sng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uniquely</a:t>
            </a: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 identifies any given entity (row of record)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Keys are used in all systems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Passport ID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NINO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NHS Number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Key characteristics: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Cannot be empty for a record (Not Null)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Has to be unique!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No duplicated values are allowed.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It’s very useful when you create relationships between tables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Helps to avoid redundancy (records that are repeated)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8" dur="indefinite" restart="never" nodeType="tmRoot">
          <p:childTnLst>
            <p:seq>
              <p:cTn id="279" dur="indefinite" nodeType="mainSeq">
                <p:childTnLst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4" dur="1000"/>
                                        <p:tgtEl>
                                          <p:spTgt spid="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85" dur="1000" fill="hold"/>
                                        <p:tgtEl>
                                          <p:spTgt spid="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6" dur="1000" fill="hold"/>
                                        <p:tgtEl>
                                          <p:spTgt spid="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1" dur="1000"/>
                                        <p:tgtEl>
                                          <p:spTgt spid="4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92" dur="1000" fill="hold"/>
                                        <p:tgtEl>
                                          <p:spTgt spid="4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3" dur="1000" fill="hold"/>
                                        <p:tgtEl>
                                          <p:spTgt spid="4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4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6" dur="1000"/>
                                        <p:tgtEl>
                                          <p:spTgt spid="4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297" dur="1000" fill="hold"/>
                                        <p:tgtEl>
                                          <p:spTgt spid="4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8" dur="1000" fill="hold"/>
                                        <p:tgtEl>
                                          <p:spTgt spid="4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3" dur="1000"/>
                                        <p:tgtEl>
                                          <p:spTgt spid="4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04" dur="1000" fill="hold"/>
                                        <p:tgtEl>
                                          <p:spTgt spid="4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5" dur="1000" fill="hold"/>
                                        <p:tgtEl>
                                          <p:spTgt spid="4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8" dur="1000"/>
                                        <p:tgtEl>
                                          <p:spTgt spid="4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09" dur="1000" fill="hold"/>
                                        <p:tgtEl>
                                          <p:spTgt spid="4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0" dur="1000" fill="hold"/>
                                        <p:tgtEl>
                                          <p:spTgt spid="4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1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3" dur="1000"/>
                                        <p:tgtEl>
                                          <p:spTgt spid="4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14" dur="1000" fill="hold"/>
                                        <p:tgtEl>
                                          <p:spTgt spid="4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5" dur="1000" fill="hold"/>
                                        <p:tgtEl>
                                          <p:spTgt spid="4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6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8" dur="1000"/>
                                        <p:tgtEl>
                                          <p:spTgt spid="4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19" dur="1000" fill="hold"/>
                                        <p:tgtEl>
                                          <p:spTgt spid="4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0" dur="1000" fill="hold"/>
                                        <p:tgtEl>
                                          <p:spTgt spid="4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5" dur="1000"/>
                                        <p:tgtEl>
                                          <p:spTgt spid="4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26" dur="1000" fill="hold"/>
                                        <p:tgtEl>
                                          <p:spTgt spid="4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7" dur="1000" fill="hold"/>
                                        <p:tgtEl>
                                          <p:spTgt spid="4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2" dur="1000"/>
                                        <p:tgtEl>
                                          <p:spTgt spid="4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33" dur="1000" fill="hold"/>
                                        <p:tgtEl>
                                          <p:spTgt spid="4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4" dur="1000" fill="hold"/>
                                        <p:tgtEl>
                                          <p:spTgt spid="4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9" dur="1000"/>
                                        <p:tgtEl>
                                          <p:spTgt spid="4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40" dur="1000" fill="hold"/>
                                        <p:tgtEl>
                                          <p:spTgt spid="4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1" dur="1000" fill="hold"/>
                                        <p:tgtEl>
                                          <p:spTgt spid="4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2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4" dur="1000"/>
                                        <p:tgtEl>
                                          <p:spTgt spid="4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45" dur="1000" fill="hold"/>
                                        <p:tgtEl>
                                          <p:spTgt spid="4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6" dur="1000" fill="hold"/>
                                        <p:tgtEl>
                                          <p:spTgt spid="40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1" dur="1000"/>
                                        <p:tgtEl>
                                          <p:spTgt spid="4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52" dur="1000" fill="hold"/>
                                        <p:tgtEl>
                                          <p:spTgt spid="4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3" dur="1000" fill="hold"/>
                                        <p:tgtEl>
                                          <p:spTgt spid="4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4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6" dur="1000"/>
                                        <p:tgtEl>
                                          <p:spTgt spid="40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357" dur="1000" fill="hold"/>
                                        <p:tgtEl>
                                          <p:spTgt spid="40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8" dur="1000" fill="hold"/>
                                        <p:tgtEl>
                                          <p:spTgt spid="40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Rectangle 3"/>
          <p:cNvSpPr/>
          <p:nvPr/>
        </p:nvSpPr>
        <p:spPr>
          <a:xfrm>
            <a:off x="3960" y="0"/>
            <a:ext cx="12185640" cy="1616400"/>
          </a:xfrm>
          <a:prstGeom prst="rect">
            <a:avLst/>
          </a:prstGeom>
          <a:solidFill>
            <a:srgbClr val="2642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What is a schema (data model) ?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23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A data model (or datamodel) is an abstract model that organizes elements of data and standardizes how they relate to one another and to the properties of real-world entities.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[</a:t>
            </a:r>
            <a:r>
              <a:rPr b="0" lang="en-GB" sz="2400" strike="noStrike" u="sng">
                <a:solidFill>
                  <a:srgbClr val="0563c1"/>
                </a:solidFill>
                <a:effectLst/>
                <a:uFillTx/>
                <a:latin typeface="Verdana"/>
                <a:ea typeface="Verdana"/>
                <a:hlinkClick r:id="rId1"/>
              </a:rPr>
              <a:t>Source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]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1080000" y="4860000"/>
            <a:ext cx="9850320" cy="162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Example: there is a canonical, almost immutable Relational </a:t>
            </a:r>
            <a:r>
              <a:rPr b="0" i="1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schema</a:t>
            </a: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to describe a university.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Typical tables are Students, Modules/Classes, Completed exams, Graduates, Instructors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There are dozens of relational database instances, sometimes hosted in the same server/cloud: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You are into the unimi.it instance.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Rectangle 4"/>
          <p:cNvSpPr/>
          <p:nvPr/>
        </p:nvSpPr>
        <p:spPr>
          <a:xfrm>
            <a:off x="3960" y="0"/>
            <a:ext cx="12185640" cy="1616400"/>
          </a:xfrm>
          <a:prstGeom prst="rect">
            <a:avLst/>
          </a:prstGeom>
          <a:solidFill>
            <a:srgbClr val="2642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What’s wrong with this table?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16" name="Content Placeholder 3"/>
          <p:cNvGraphicFramePr/>
          <p:nvPr/>
        </p:nvGraphicFramePr>
        <p:xfrm>
          <a:off x="838080" y="2406240"/>
          <a:ext cx="10514880" cy="2224800"/>
        </p:xfrm>
        <a:graphic>
          <a:graphicData uri="http://schemas.openxmlformats.org/drawingml/2006/table">
            <a:tbl>
              <a:tblPr/>
              <a:tblGrid>
                <a:gridCol w="1218960"/>
                <a:gridCol w="1780560"/>
                <a:gridCol w="1744560"/>
                <a:gridCol w="2286000"/>
                <a:gridCol w="348516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Book_ID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Book_Title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Book_Author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Author_Address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Authors_Phone_Number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Hobbit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Tolkien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Bournemouth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01202 345234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2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LOTR 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Tolkien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Bournemouth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01202 345234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3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LOTR 2 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Tolkien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Bournemouth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01202 345234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4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LOTR 3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Tolkien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Bournemouth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01202 345234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5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The Silmarillion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Tolkien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Bournemouth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01202 345234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</a:tbl>
          </a:graphicData>
        </a:graphic>
      </p:graphicFrame>
      <p:sp>
        <p:nvSpPr>
          <p:cNvPr id="417" name="TextBox 2"/>
          <p:cNvSpPr/>
          <p:nvPr/>
        </p:nvSpPr>
        <p:spPr>
          <a:xfrm>
            <a:off x="5903640" y="5346720"/>
            <a:ext cx="50439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3200" strike="noStrike" u="none">
                <a:solidFill>
                  <a:srgbClr val="ffc000"/>
                </a:solidFill>
                <a:effectLst/>
                <a:uFillTx/>
                <a:latin typeface="Calibri"/>
                <a:ea typeface="DejaVu Sans"/>
              </a:rPr>
              <a:t>5 rows * 5 columns = 25 data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9" dur="indefinite" restart="never" nodeType="tmRoot">
          <p:childTnLst>
            <p:seq>
              <p:cTn id="360" dur="indefinite" nodeType="mainSeq">
                <p:childTnLst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Rectangle 4"/>
          <p:cNvSpPr/>
          <p:nvPr/>
        </p:nvSpPr>
        <p:spPr>
          <a:xfrm>
            <a:off x="10755000" y="0"/>
            <a:ext cx="1434240" cy="6855480"/>
          </a:xfrm>
          <a:prstGeom prst="rect">
            <a:avLst/>
          </a:prstGeom>
          <a:solidFill>
            <a:srgbClr val="7272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19" name="Picture 5" descr=""/>
          <p:cNvPicPr/>
          <p:nvPr/>
        </p:nvPicPr>
        <p:blipFill>
          <a:blip r:embed="rId1"/>
          <a:stretch/>
        </p:blipFill>
        <p:spPr>
          <a:xfrm>
            <a:off x="10808640" y="36360"/>
            <a:ext cx="1380960" cy="133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Quiz 1: Can we redesign it?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Produce a better design.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Define ”better”…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22" name="Content Placeholder 3"/>
          <p:cNvGraphicFramePr/>
          <p:nvPr/>
        </p:nvGraphicFramePr>
        <p:xfrm>
          <a:off x="838080" y="3498480"/>
          <a:ext cx="9511920" cy="2224800"/>
        </p:xfrm>
        <a:graphic>
          <a:graphicData uri="http://schemas.openxmlformats.org/drawingml/2006/table">
            <a:tbl>
              <a:tblPr/>
              <a:tblGrid>
                <a:gridCol w="1102680"/>
                <a:gridCol w="1610640"/>
                <a:gridCol w="1578240"/>
                <a:gridCol w="2067840"/>
                <a:gridCol w="315288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Book_ID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Book_Title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Book_Author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Author_Address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Authors_Phone_Number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Hobbit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Tolkien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Bournemouth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01202 345234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2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LOTR 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Tolkien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Bournemouth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01202 345234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3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LOTR 2 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Tolkien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Bournemouth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01202 345234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4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LOTR 3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Tolkien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Bournemouth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01202 345234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5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The silmarillion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Tolkien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Bournemouth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01202 345234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Rectangle 11"/>
          <p:cNvSpPr/>
          <p:nvPr/>
        </p:nvSpPr>
        <p:spPr>
          <a:xfrm>
            <a:off x="3960" y="0"/>
            <a:ext cx="12185640" cy="1616400"/>
          </a:xfrm>
          <a:prstGeom prst="rect">
            <a:avLst/>
          </a:prstGeom>
          <a:solidFill>
            <a:srgbClr val="2642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Designing a “better” data model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25" name="Content Placeholder 3"/>
          <p:cNvGraphicFramePr/>
          <p:nvPr/>
        </p:nvGraphicFramePr>
        <p:xfrm>
          <a:off x="1580040" y="2220840"/>
          <a:ext cx="4912560" cy="2224800"/>
        </p:xfrm>
        <a:graphic>
          <a:graphicData uri="http://schemas.openxmlformats.org/drawingml/2006/table">
            <a:tbl>
              <a:tblPr/>
              <a:tblGrid>
                <a:gridCol w="1050120"/>
                <a:gridCol w="1958400"/>
                <a:gridCol w="190440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Book_ID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Book_Title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Author_ID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Hobbit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A1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2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LOTR 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A1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3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LOTR 2 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A1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4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LOTR 3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A1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5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The silmarillion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A1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6" name="Content Placeholder 3"/>
          <p:cNvGraphicFramePr/>
          <p:nvPr/>
        </p:nvGraphicFramePr>
        <p:xfrm>
          <a:off x="778320" y="5426280"/>
          <a:ext cx="8253720" cy="741600"/>
        </p:xfrm>
        <a:graphic>
          <a:graphicData uri="http://schemas.openxmlformats.org/drawingml/2006/table">
            <a:tbl>
              <a:tblPr/>
              <a:tblGrid>
                <a:gridCol w="1323720"/>
                <a:gridCol w="1632240"/>
                <a:gridCol w="2004840"/>
                <a:gridCol w="329328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Author_ID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Book_Author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Author_Address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Authors_Phone_Number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A1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Tolkien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Bournemouth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01202 345234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</a:tbl>
          </a:graphicData>
        </a:graphic>
      </p:graphicFrame>
      <p:sp>
        <p:nvSpPr>
          <p:cNvPr id="427" name="TextBox 5"/>
          <p:cNvSpPr/>
          <p:nvPr/>
        </p:nvSpPr>
        <p:spPr>
          <a:xfrm>
            <a:off x="8115840" y="2779200"/>
            <a:ext cx="291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rgbClr val="ffc000"/>
                </a:solidFill>
                <a:effectLst/>
                <a:uFillTx/>
                <a:latin typeface="Calibri"/>
                <a:ea typeface="DejaVu Sans"/>
              </a:rPr>
              <a:t>5 rows * 3 columns = 15 data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Box 6"/>
          <p:cNvSpPr/>
          <p:nvPr/>
        </p:nvSpPr>
        <p:spPr>
          <a:xfrm>
            <a:off x="8116920" y="3148560"/>
            <a:ext cx="2862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rgbClr val="ffc000"/>
                </a:solidFill>
                <a:effectLst/>
                <a:uFillTx/>
                <a:latin typeface="Calibri"/>
                <a:ea typeface="DejaVu Sans"/>
              </a:rPr>
              <a:t>1 row  * 4 columns =   4 data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7"/>
          <p:cNvSpPr/>
          <p:nvPr/>
        </p:nvSpPr>
        <p:spPr>
          <a:xfrm>
            <a:off x="8163720" y="3493440"/>
            <a:ext cx="286956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rgbClr val="ffc000"/>
                </a:solidFill>
                <a:effectLst/>
                <a:uFillTx/>
                <a:latin typeface="Calibri"/>
                <a:ea typeface="DejaVu Sans"/>
              </a:rPr>
              <a:t>	</a:t>
            </a:r>
            <a:r>
              <a:rPr b="1" lang="en-US" sz="1800" strike="noStrike" u="none">
                <a:solidFill>
                  <a:srgbClr val="ffc000"/>
                </a:solidFill>
                <a:effectLst/>
                <a:uFillTx/>
                <a:latin typeface="Calibri"/>
                <a:ea typeface="DejaVu Sans"/>
              </a:rPr>
              <a:t> </a:t>
            </a:r>
            <a:r>
              <a:rPr b="1" lang="en-US" sz="1800" strike="noStrike" u="none">
                <a:solidFill>
                  <a:srgbClr val="ffc000"/>
                </a:solidFill>
                <a:effectLst/>
                <a:uFillTx/>
                <a:latin typeface="Calibri"/>
                <a:ea typeface="DejaVu Sans"/>
              </a:rPr>
              <a:t>	</a:t>
            </a:r>
            <a:r>
              <a:rPr b="1" lang="en-US" sz="1800" strike="noStrike" u="none">
                <a:solidFill>
                  <a:srgbClr val="ffc000"/>
                </a:solidFill>
                <a:effectLst/>
                <a:uFillTx/>
                <a:latin typeface="Calibri"/>
                <a:ea typeface="DejaVu Sans"/>
              </a:rPr>
              <a:t>   19 data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1" lang="en-US" sz="1800" strike="noStrike" u="none">
                <a:solidFill>
                  <a:srgbClr val="ffc000"/>
                </a:solidFill>
                <a:effectLst/>
                <a:uFillTx/>
                <a:latin typeface="Calibri"/>
                <a:ea typeface="DejaVu Sans"/>
              </a:rPr>
              <a:t>(</a:t>
            </a:r>
            <a:r>
              <a:rPr b="1" i="1" lang="en-US" sz="1800" strike="noStrike" u="none">
                <a:solidFill>
                  <a:srgbClr val="ffc000"/>
                </a:solidFill>
                <a:effectLst/>
                <a:uFillTx/>
                <a:latin typeface="Calibri"/>
                <a:ea typeface="DejaVu Sans"/>
              </a:rPr>
              <a:t>less data…</a:t>
            </a:r>
            <a:r>
              <a:rPr b="1" lang="en-US" sz="1800" strike="noStrike" u="none">
                <a:solidFill>
                  <a:srgbClr val="ffc000"/>
                </a:solidFill>
                <a:effectLst/>
                <a:uFillTx/>
                <a:latin typeface="Calibri"/>
                <a:ea typeface="DejaVu Sans"/>
              </a:rPr>
              <a:t>)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Straight Connector 8"/>
          <p:cNvSpPr/>
          <p:nvPr/>
        </p:nvSpPr>
        <p:spPr>
          <a:xfrm>
            <a:off x="8088840" y="3521160"/>
            <a:ext cx="2903760" cy="36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44640" bIns="-44640" anchor="t" anchorCtr="1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31" name="Elbow Connector 10"/>
          <p:cNvSpPr/>
          <p:nvPr/>
        </p:nvSpPr>
        <p:spPr>
          <a:xfrm flipH="1" flipV="1" rot="5400000">
            <a:off x="1452960" y="2181960"/>
            <a:ext cx="3272400" cy="3206160"/>
          </a:xfrm>
          <a:prstGeom prst="bentConnector3">
            <a:avLst>
              <a:gd name="adj1" fmla="val 106716"/>
            </a:avLst>
          </a:prstGeom>
          <a:noFill/>
          <a:ln w="34925">
            <a:solidFill>
              <a:srgbClr val="fff2cc"/>
            </a:solidFill>
            <a:prstDash val="sysDot"/>
            <a:headEnd len="med" type="triangle" w="med"/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32" name="TextBox 14"/>
          <p:cNvSpPr/>
          <p:nvPr/>
        </p:nvSpPr>
        <p:spPr>
          <a:xfrm>
            <a:off x="2091960" y="1545840"/>
            <a:ext cx="2147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fff2cc"/>
                </a:solidFill>
                <a:effectLst/>
                <a:uFillTx/>
                <a:latin typeface="Calibri"/>
                <a:ea typeface="DejaVu Sans"/>
              </a:rPr>
              <a:t>These are the same…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65" dur="indefinite" restart="never" nodeType="tmRoot">
          <p:childTnLst>
            <p:seq>
              <p:cTn id="366" dur="indefinite" nodeType="mainSeq">
                <p:childTnLst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Rectangle 3"/>
          <p:cNvSpPr/>
          <p:nvPr/>
        </p:nvSpPr>
        <p:spPr>
          <a:xfrm>
            <a:off x="3960" y="0"/>
            <a:ext cx="12185640" cy="1616400"/>
          </a:xfrm>
          <a:prstGeom prst="rect">
            <a:avLst/>
          </a:prstGeom>
          <a:solidFill>
            <a:srgbClr val="2642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Database creation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A database is an organized collection of structured information, or data, typically stored electronically in a computer system. 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A database is usually controlled by a (heavy) software called database management system (DBMS). 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Together, the data and the DBMS, along with the applications that are associated with them, are referred to as a database system, often shortened to just database.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	</a:t>
            </a:r>
            <a:r>
              <a:rPr b="1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[</a:t>
            </a:r>
            <a:r>
              <a:rPr b="1" lang="en-GB" sz="2800" strike="noStrike" u="sng">
                <a:solidFill>
                  <a:srgbClr val="0563c1"/>
                </a:solidFill>
                <a:effectLst/>
                <a:uFillTx/>
                <a:latin typeface="Verdana"/>
                <a:ea typeface="Verdana"/>
                <a:hlinkClick r:id="rId1"/>
              </a:rPr>
              <a:t>Source</a:t>
            </a:r>
            <a:r>
              <a:rPr b="1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]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7" dur="indefinite" restart="never" nodeType="tmRoot">
          <p:childTnLst>
            <p:seq>
              <p:cTn id="398" dur="indefinite" nodeType="mainSeq">
                <p:childTnLst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3" dur="1000"/>
                                        <p:tgtEl>
                                          <p:spTgt spid="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04" dur="1000" fill="hold"/>
                                        <p:tgtEl>
                                          <p:spTgt spid="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5" dur="1000" fill="hold"/>
                                        <p:tgtEl>
                                          <p:spTgt spid="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>
                      <p:stCondLst>
                        <p:cond delay="indefinite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0" dur="1000"/>
                                        <p:tgtEl>
                                          <p:spTgt spid="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11" dur="1000" fill="hold"/>
                                        <p:tgtEl>
                                          <p:spTgt spid="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2" dur="1000" fill="hold"/>
                                        <p:tgtEl>
                                          <p:spTgt spid="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indefinite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7" dur="1000"/>
                                        <p:tgtEl>
                                          <p:spTgt spid="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18" dur="1000" fill="hold"/>
                                        <p:tgtEl>
                                          <p:spTgt spid="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9" dur="1000" fill="hold"/>
                                        <p:tgtEl>
                                          <p:spTgt spid="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0" fill="hold">
                      <p:stCondLst>
                        <p:cond delay="indefinite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4" dur="1000"/>
                                        <p:tgtEl>
                                          <p:spTgt spid="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25" dur="1000" fill="hold"/>
                                        <p:tgtEl>
                                          <p:spTgt spid="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6" dur="1000" fill="hold"/>
                                        <p:tgtEl>
                                          <p:spTgt spid="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Rectangle 3"/>
          <p:cNvSpPr/>
          <p:nvPr/>
        </p:nvSpPr>
        <p:spPr>
          <a:xfrm>
            <a:off x="3960" y="0"/>
            <a:ext cx="12185640" cy="1616400"/>
          </a:xfrm>
          <a:prstGeom prst="rect">
            <a:avLst/>
          </a:prstGeom>
          <a:solidFill>
            <a:srgbClr val="2642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Popular RDBMSs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IBM DB2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Oracle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Microsoft SQL Server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MySQL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PostgreSQL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SQLite: a Python port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MongoDB: not a SQL database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Check </a:t>
            </a: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the </a:t>
            </a:r>
            <a:r>
              <a:rPr b="0" lang="en-GB" sz="1800" strike="noStrike" u="sng">
                <a:solidFill>
                  <a:srgbClr val="0563c1"/>
                </a:solidFill>
                <a:effectLst/>
                <a:uFillTx/>
                <a:latin typeface="Verdana"/>
                <a:ea typeface="Verdana"/>
              </a:rPr>
              <a:t>u</a:t>
            </a:r>
            <a:r>
              <a:rPr b="0" lang="en-GB" sz="2800" strike="noStrike" u="sng">
                <a:solidFill>
                  <a:srgbClr val="0563c1"/>
                </a:solidFill>
                <a:effectLst/>
                <a:uFillTx/>
                <a:latin typeface="Verdana"/>
                <a:ea typeface="Verdana"/>
                <a:hlinkClick r:id="rId1"/>
              </a:rPr>
              <a:t>pdated rankings</a:t>
            </a: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 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27" dur="indefinite" restart="never" nodeType="tmRoot">
          <p:childTnLst>
            <p:seq>
              <p:cTn id="428" dur="indefinite" nodeType="mainSeq">
                <p:childTnLst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3" dur="1000"/>
                                        <p:tgtEl>
                                          <p:spTgt spid="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34" dur="1000" fill="hold"/>
                                        <p:tgtEl>
                                          <p:spTgt spid="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5" dur="1000" fill="hold"/>
                                        <p:tgtEl>
                                          <p:spTgt spid="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" fill="hold">
                      <p:stCondLst>
                        <p:cond delay="indefinite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id="438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0" dur="1000"/>
                                        <p:tgtEl>
                                          <p:spTgt spid="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41" dur="1000" fill="hold"/>
                                        <p:tgtEl>
                                          <p:spTgt spid="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2" dur="1000" fill="hold"/>
                                        <p:tgtEl>
                                          <p:spTgt spid="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7" dur="1000"/>
                                        <p:tgtEl>
                                          <p:spTgt spid="4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48" dur="1000" fill="hold"/>
                                        <p:tgtEl>
                                          <p:spTgt spid="4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9" dur="1000" fill="hold"/>
                                        <p:tgtEl>
                                          <p:spTgt spid="4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0" fill="hold">
                      <p:stCondLst>
                        <p:cond delay="indefinite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par>
                                <p:cTn id="452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4" dur="1000"/>
                                        <p:tgtEl>
                                          <p:spTgt spid="4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55" dur="1000" fill="hold"/>
                                        <p:tgtEl>
                                          <p:spTgt spid="4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56" dur="1000" fill="hold"/>
                                        <p:tgtEl>
                                          <p:spTgt spid="4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>
                      <p:stCondLst>
                        <p:cond delay="indefinite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1" dur="1000"/>
                                        <p:tgtEl>
                                          <p:spTgt spid="4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62" dur="1000" fill="hold"/>
                                        <p:tgtEl>
                                          <p:spTgt spid="4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3" dur="1000" fill="hold"/>
                                        <p:tgtEl>
                                          <p:spTgt spid="4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4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6" dur="1000"/>
                                        <p:tgtEl>
                                          <p:spTgt spid="4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67" dur="1000" fill="hold"/>
                                        <p:tgtEl>
                                          <p:spTgt spid="4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8" dur="1000" fill="hold"/>
                                        <p:tgtEl>
                                          <p:spTgt spid="4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9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1" dur="1000"/>
                                        <p:tgtEl>
                                          <p:spTgt spid="4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72" dur="1000" fill="hold"/>
                                        <p:tgtEl>
                                          <p:spTgt spid="4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3" dur="1000" fill="hold"/>
                                        <p:tgtEl>
                                          <p:spTgt spid="4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6" dur="1000"/>
                                        <p:tgtEl>
                                          <p:spTgt spid="4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77" dur="1000" fill="hold"/>
                                        <p:tgtEl>
                                          <p:spTgt spid="4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8" dur="1000" fill="hold"/>
                                        <p:tgtEl>
                                          <p:spTgt spid="4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Rectangle 1"/>
          <p:cNvSpPr/>
          <p:nvPr/>
        </p:nvSpPr>
        <p:spPr>
          <a:xfrm>
            <a:off x="3960" y="0"/>
            <a:ext cx="12185640" cy="1616400"/>
          </a:xfrm>
          <a:prstGeom prst="rect">
            <a:avLst/>
          </a:prstGeom>
          <a:solidFill>
            <a:srgbClr val="2642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What is SQL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SQL (pronounced "ess-que-el") stands for Structured Query Language. 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SQL is used to communicate with a database.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SQL provides a set of commands to interact with a database system.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79" dur="indefinite" restart="never" nodeType="tmRoot">
          <p:childTnLst>
            <p:seq>
              <p:cTn id="480" dur="indefinite" nodeType="mainSeq">
                <p:childTnLst>
                  <p:par>
                    <p:cTn id="481" fill="hold">
                      <p:stCondLst>
                        <p:cond delay="indefinite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id="483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5" dur="1000"/>
                                        <p:tgtEl>
                                          <p:spTgt spid="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86" dur="1000" fill="hold"/>
                                        <p:tgtEl>
                                          <p:spTgt spid="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7" dur="1000" fill="hold"/>
                                        <p:tgtEl>
                                          <p:spTgt spid="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8" fill="hold">
                      <p:stCondLst>
                        <p:cond delay="indefinite"/>
                      </p:stCondLst>
                      <p:childTnLst>
                        <p:par>
                          <p:cTn id="489" fill="hold">
                            <p:stCondLst>
                              <p:cond delay="0"/>
                            </p:stCondLst>
                            <p:childTnLst>
                              <p:par>
                                <p:cTn id="490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2" dur="1000"/>
                                        <p:tgtEl>
                                          <p:spTgt spid="4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493" dur="1000" fill="hold"/>
                                        <p:tgtEl>
                                          <p:spTgt spid="4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4" dur="1000" fill="hold"/>
                                        <p:tgtEl>
                                          <p:spTgt spid="4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9" dur="1000"/>
                                        <p:tgtEl>
                                          <p:spTgt spid="4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00" dur="1000" fill="hold"/>
                                        <p:tgtEl>
                                          <p:spTgt spid="4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1" dur="1000" fill="hold"/>
                                        <p:tgtEl>
                                          <p:spTgt spid="4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Create a database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Rectangle 8"/>
          <p:cNvSpPr/>
          <p:nvPr/>
        </p:nvSpPr>
        <p:spPr>
          <a:xfrm>
            <a:off x="1075320" y="2274840"/>
            <a:ext cx="4357800" cy="1219320"/>
          </a:xfrm>
          <a:prstGeom prst="rect">
            <a:avLst/>
          </a:prstGeom>
          <a:solidFill>
            <a:srgbClr val="002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CREATE DATABASE bl_data;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Rectangle 9"/>
          <p:cNvSpPr/>
          <p:nvPr/>
        </p:nvSpPr>
        <p:spPr>
          <a:xfrm>
            <a:off x="1075320" y="4566600"/>
            <a:ext cx="4357800" cy="1219320"/>
          </a:xfrm>
          <a:prstGeom prst="rect">
            <a:avLst/>
          </a:prstGeom>
          <a:solidFill>
            <a:srgbClr val="002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DejaVu Sans"/>
              </a:rPr>
              <a:t>DROP DATABASE bl_data;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3"/>
          <p:cNvSpPr/>
          <p:nvPr/>
        </p:nvSpPr>
        <p:spPr>
          <a:xfrm>
            <a:off x="2054520" y="1813320"/>
            <a:ext cx="2399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Create a database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Box 4"/>
          <p:cNvSpPr/>
          <p:nvPr/>
        </p:nvSpPr>
        <p:spPr>
          <a:xfrm>
            <a:off x="2057040" y="4080960"/>
            <a:ext cx="2398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Delete a database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7" name="Picture 4" descr=""/>
          <p:cNvPicPr/>
          <p:nvPr/>
        </p:nvPicPr>
        <p:blipFill>
          <a:blip r:embed="rId1"/>
          <a:stretch/>
        </p:blipFill>
        <p:spPr>
          <a:xfrm>
            <a:off x="6536160" y="1017720"/>
            <a:ext cx="5653080" cy="5837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02" dur="indefinite" restart="never" nodeType="tmRoot">
          <p:childTnLst>
            <p:seq>
              <p:cTn id="503" dur="indefinite" nodeType="mainSeq">
                <p:childTnLst>
                  <p:par>
                    <p:cTn id="504" fill="hold">
                      <p:stCondLst>
                        <p:cond delay="indefinite"/>
                      </p:stCondLst>
                      <p:childTnLst>
                        <p:par>
                          <p:cTn id="505" fill="hold">
                            <p:stCondLst>
                              <p:cond delay="0"/>
                            </p:stCondLst>
                            <p:childTnLst>
                              <p:par>
                                <p:cTn id="50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0" fill="hold">
                      <p:stCondLst>
                        <p:cond delay="indefinite"/>
                      </p:stCondLst>
                      <p:childTnLst>
                        <p:par>
                          <p:cTn id="511" fill="hold">
                            <p:stCondLst>
                              <p:cond delay="0"/>
                            </p:stCondLst>
                            <p:childTnLst>
                              <p:par>
                                <p:cTn id="51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6" fill="hold">
                      <p:stCondLst>
                        <p:cond delay="indefinite"/>
                      </p:stCondLst>
                      <p:childTnLst>
                        <p:par>
                          <p:cTn id="517" fill="hold">
                            <p:stCondLst>
                              <p:cond delay="0"/>
                            </p:stCondLst>
                            <p:childTnLst>
                              <p:par>
                                <p:cTn id="51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Create a new table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49" name="Content Placeholder 2"/>
          <p:cNvGraphicFramePr/>
          <p:nvPr/>
        </p:nvGraphicFramePr>
        <p:xfrm>
          <a:off x="7569360" y="2023560"/>
          <a:ext cx="4377240" cy="1112400"/>
        </p:xfrm>
        <a:graphic>
          <a:graphicData uri="http://schemas.openxmlformats.org/drawingml/2006/table">
            <a:tbl>
              <a:tblPr/>
              <a:tblGrid>
                <a:gridCol w="1387800"/>
                <a:gridCol w="1524240"/>
                <a:gridCol w="1465560"/>
              </a:tblGrid>
              <a:tr h="37080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city_id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name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country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London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GB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  <a:tr h="37080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2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New York City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US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</a:tbl>
          </a:graphicData>
        </a:graphic>
      </p:graphicFrame>
      <p:sp>
        <p:nvSpPr>
          <p:cNvPr id="450" name="TextBox 1"/>
          <p:cNvSpPr/>
          <p:nvPr/>
        </p:nvSpPr>
        <p:spPr>
          <a:xfrm>
            <a:off x="7577280" y="1613160"/>
            <a:ext cx="1931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Table Name: Cities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Rectangle 10"/>
          <p:cNvSpPr/>
          <p:nvPr/>
        </p:nvSpPr>
        <p:spPr>
          <a:xfrm>
            <a:off x="0" y="4780440"/>
            <a:ext cx="12189600" cy="2075040"/>
          </a:xfrm>
          <a:prstGeom prst="rect">
            <a:avLst/>
          </a:prstGeom>
          <a:solidFill>
            <a:srgbClr val="002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52" name="Rectangle 12"/>
          <p:cNvSpPr/>
          <p:nvPr/>
        </p:nvSpPr>
        <p:spPr>
          <a:xfrm>
            <a:off x="596880" y="4801320"/>
            <a:ext cx="1128096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Consolas"/>
                <a:ea typeface="DejaVu Sans"/>
              </a:rPr>
              <a:t>SQL&gt; CREATE TABLE cities (city_id INTEGER PRIMARY KEY, 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Consolas"/>
                <a:ea typeface="DejaVu Sans"/>
              </a:rPr>
              <a:t>	</a:t>
            </a: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Consolas"/>
                <a:ea typeface="DejaVu Sans"/>
              </a:rPr>
              <a:t>	</a:t>
            </a: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Consolas"/>
                <a:ea typeface="DejaVu Sans"/>
              </a:rPr>
              <a:t>	</a:t>
            </a: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Consolas"/>
                <a:ea typeface="DejaVu Sans"/>
              </a:rPr>
              <a:t>	</a:t>
            </a: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Consolas"/>
                <a:ea typeface="DejaVu Sans"/>
              </a:rPr>
              <a:t>	</a:t>
            </a: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Consolas"/>
                <a:ea typeface="DejaVu Sans"/>
              </a:rPr>
              <a:t>name VARCHAR(24) NOT NULL, 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Consolas"/>
                <a:ea typeface="DejaVu Sans"/>
              </a:rPr>
              <a:t>	</a:t>
            </a: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Consolas"/>
                <a:ea typeface="DejaVu Sans"/>
              </a:rPr>
              <a:t>	</a:t>
            </a: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Consolas"/>
                <a:ea typeface="DejaVu Sans"/>
              </a:rPr>
              <a:t>	</a:t>
            </a: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Consolas"/>
                <a:ea typeface="DejaVu Sans"/>
              </a:rPr>
              <a:t>	</a:t>
            </a: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Consolas"/>
                <a:ea typeface="DejaVu Sans"/>
              </a:rPr>
              <a:t>	</a:t>
            </a: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Consolas"/>
                <a:ea typeface="DejaVu Sans"/>
              </a:rPr>
              <a:t>country VARCHAR(2)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Consolas"/>
                <a:ea typeface="DejaVu Sans"/>
              </a:rPr>
              <a:t>	</a:t>
            </a: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Consolas"/>
                <a:ea typeface="DejaVu Sans"/>
              </a:rPr>
              <a:t>	</a:t>
            </a: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Consolas"/>
                <a:ea typeface="DejaVu Sans"/>
              </a:rPr>
              <a:t>	</a:t>
            </a: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Consolas"/>
                <a:ea typeface="DejaVu Sans"/>
              </a:rPr>
              <a:t>	</a:t>
            </a: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Consolas"/>
                <a:ea typeface="DejaVu Sans"/>
              </a:rPr>
              <a:t>	</a:t>
            </a:r>
            <a:r>
              <a:rPr b="0" lang="en-GB" sz="2400" strike="noStrike" u="none">
                <a:solidFill>
                  <a:srgbClr val="ffff00"/>
                </a:solidFill>
                <a:effectLst/>
                <a:uFillTx/>
                <a:latin typeface="Consolas"/>
                <a:ea typeface="DejaVu Sans"/>
              </a:rPr>
              <a:t>);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Box 8"/>
          <p:cNvSpPr/>
          <p:nvPr/>
        </p:nvSpPr>
        <p:spPr>
          <a:xfrm>
            <a:off x="596880" y="1619280"/>
            <a:ext cx="6728400" cy="28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45720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We want to store data about urban areas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914400" indent="-457200" defTabSz="914400">
              <a:lnSpc>
                <a:spcPct val="100000"/>
              </a:lnSpc>
              <a:buClr>
                <a:srgbClr val="ffc000"/>
              </a:buClr>
              <a:buFont typeface="Wingdings" charset="2"/>
              <a:buChar char=""/>
            </a:pPr>
            <a:r>
              <a:rPr b="1" lang="en-GB" sz="2800" strike="noStrike" u="none">
                <a:solidFill>
                  <a:srgbClr val="ffc000"/>
                </a:solidFill>
                <a:effectLst/>
                <a:uFillTx/>
                <a:latin typeface="Calibri"/>
                <a:ea typeface="DejaVu Sans"/>
              </a:rPr>
              <a:t>city_id</a:t>
            </a: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 will be numeric (Integer) and my primary key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No duplicates/Not Null values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ffc000"/>
              </a:buClr>
              <a:buFont typeface="Wingdings" charset="2"/>
              <a:buChar char=""/>
            </a:pPr>
            <a:r>
              <a:rPr b="1" lang="en-GB" sz="2800" strike="noStrike" u="none">
                <a:solidFill>
                  <a:srgbClr val="ffc000"/>
                </a:solidFill>
                <a:effectLst/>
                <a:uFillTx/>
                <a:latin typeface="Calibri"/>
                <a:ea typeface="DejaVu Sans"/>
              </a:rPr>
              <a:t>  name </a:t>
            </a: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will be string (characters), in SQL called varchar!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Also, the size of the name could be up to 24 characters…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name, cannot be empty in my table!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ffc000"/>
              </a:buClr>
              <a:buFont typeface="Wingdings" charset="2"/>
              <a:buChar char=""/>
            </a:pPr>
            <a:r>
              <a:rPr b="1" lang="en-GB" sz="2800" strike="noStrike" u="none">
                <a:solidFill>
                  <a:srgbClr val="ffc000"/>
                </a:solidFill>
                <a:effectLst/>
                <a:uFillTx/>
                <a:latin typeface="Calibri"/>
                <a:ea typeface="DejaVu Sans"/>
              </a:rPr>
              <a:t>  country</a:t>
            </a: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 will be a varchar, up to 2 characters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00240" indent="-285840" defTabSz="914400">
              <a:lnSpc>
                <a:spcPct val="100000"/>
              </a:lnSpc>
              <a:buClr>
                <a:srgbClr val="ffffff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E.g. UK, US, GR, NL etc.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Rectangle 13"/>
          <p:cNvSpPr/>
          <p:nvPr/>
        </p:nvSpPr>
        <p:spPr>
          <a:xfrm>
            <a:off x="7500960" y="3957120"/>
            <a:ext cx="4376880" cy="54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 it on </a:t>
            </a:r>
            <a:r>
              <a:rPr b="0" lang="en-GB" sz="3200" strike="noStrike" u="sng">
                <a:solidFill>
                  <a:srgbClr val="0563c1"/>
                </a:solidFill>
                <a:effectLst/>
                <a:uFillTx/>
                <a:latin typeface="Arial"/>
                <a:ea typeface="DejaVu Sans"/>
                <a:hlinkClick r:id="rId1"/>
              </a:rPr>
              <a:t>w3schools</a:t>
            </a: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!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20" dur="indefinite" restart="never" nodeType="tmRoot">
          <p:childTnLst>
            <p:seq>
              <p:cTn id="521" dur="indefinite" nodeType="mainSeq">
                <p:childTnLst>
                  <p:par>
                    <p:cTn id="522" fill="hold">
                      <p:stCondLst>
                        <p:cond delay="indefinite"/>
                      </p:stCondLst>
                      <p:childTnLst>
                        <p:par>
                          <p:cTn id="523" fill="hold">
                            <p:stCondLst>
                              <p:cond delay="0"/>
                            </p:stCondLst>
                            <p:childTnLst>
                              <p:par>
                                <p:cTn id="52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6" fill="hold">
                      <p:stCondLst>
                        <p:cond delay="indefinite"/>
                      </p:stCondLst>
                      <p:childTnLst>
                        <p:par>
                          <p:cTn id="527" fill="hold">
                            <p:stCondLst>
                              <p:cond delay="0"/>
                            </p:stCondLst>
                            <p:childTnLst>
                              <p:par>
                                <p:cTn id="52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0" fill="hold">
                      <p:stCondLst>
                        <p:cond delay="indefinite"/>
                      </p:stCondLst>
                      <p:childTnLst>
                        <p:par>
                          <p:cTn id="531" fill="hold">
                            <p:stCondLst>
                              <p:cond delay="0"/>
                            </p:stCondLst>
                            <p:childTnLst>
                              <p:par>
                                <p:cTn id="53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4" fill="hold">
                      <p:stCondLst>
                        <p:cond delay="indefinite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Rectangle 14"/>
          <p:cNvSpPr/>
          <p:nvPr/>
        </p:nvSpPr>
        <p:spPr>
          <a:xfrm>
            <a:off x="3960" y="0"/>
            <a:ext cx="12185640" cy="1616400"/>
          </a:xfrm>
          <a:prstGeom prst="rect">
            <a:avLst/>
          </a:prstGeom>
          <a:solidFill>
            <a:srgbClr val="2642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SQL Datatypes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PlaceHolder 2"/>
          <p:cNvSpPr>
            <a:spLocks noGrp="1"/>
          </p:cNvSpPr>
          <p:nvPr>
            <p:ph/>
          </p:nvPr>
        </p:nvSpPr>
        <p:spPr>
          <a:xfrm>
            <a:off x="838080" y="1617120"/>
            <a:ext cx="10513080" cy="455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2500"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VARCHAR(size):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A VARIABLE length string (can contain letters, numbers, and special characters). The size parameter specifies the maximum column length in characters - can be from 0 to 65535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TEXT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A field with a maximum length of 65535 characters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INTEGER(M):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M is optional, and denotes the display length.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A medium integer. Signed range is from -2147483648 to 2147483647. Unsigned range is from 0 to 4294967295.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FLOAT(M,D)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A floating-point number that cannot be unsigned. You can define the display length (M) and the number of decimals (D). 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8" dur="indefinite" restart="never" nodeType="tmRoot">
          <p:childTnLst>
            <p:seq>
              <p:cTn id="539" dur="indefinite" nodeType="mainSeq">
                <p:childTnLst>
                  <p:par>
                    <p:cTn id="540" fill="hold">
                      <p:stCondLst>
                        <p:cond delay="indefinite"/>
                      </p:stCondLst>
                      <p:childTnLst>
                        <p:par>
                          <p:cTn id="541" fill="hold">
                            <p:stCondLst>
                              <p:cond delay="0"/>
                            </p:stCondLst>
                            <p:childTnLst>
                              <p:par>
                                <p:cTn id="542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4" dur="1000"/>
                                        <p:tgtEl>
                                          <p:spTgt spid="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45" dur="1000" fill="hold"/>
                                        <p:tgtEl>
                                          <p:spTgt spid="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6" dur="1000" fill="hold"/>
                                        <p:tgtEl>
                                          <p:spTgt spid="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7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9" dur="1000"/>
                                        <p:tgtEl>
                                          <p:spTgt spid="4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50" dur="1000" fill="hold"/>
                                        <p:tgtEl>
                                          <p:spTgt spid="4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1" dur="1000" fill="hold"/>
                                        <p:tgtEl>
                                          <p:spTgt spid="4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2" fill="hold">
                      <p:stCondLst>
                        <p:cond delay="indefinite"/>
                      </p:stCondLst>
                      <p:childTnLst>
                        <p:par>
                          <p:cTn id="553" fill="hold">
                            <p:stCondLst>
                              <p:cond delay="0"/>
                            </p:stCondLst>
                            <p:childTnLst>
                              <p:par>
                                <p:cTn id="554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6" dur="1000"/>
                                        <p:tgtEl>
                                          <p:spTgt spid="4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57" dur="1000" fill="hold"/>
                                        <p:tgtEl>
                                          <p:spTgt spid="4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8" dur="1000" fill="hold"/>
                                        <p:tgtEl>
                                          <p:spTgt spid="4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9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1" dur="1000"/>
                                        <p:tgtEl>
                                          <p:spTgt spid="4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62" dur="1000" fill="hold"/>
                                        <p:tgtEl>
                                          <p:spTgt spid="4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3" dur="1000" fill="hold"/>
                                        <p:tgtEl>
                                          <p:spTgt spid="4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4" fill="hold">
                      <p:stCondLst>
                        <p:cond delay="indefinite"/>
                      </p:stCondLst>
                      <p:childTnLst>
                        <p:par>
                          <p:cTn id="565" fill="hold">
                            <p:stCondLst>
                              <p:cond delay="0"/>
                            </p:stCondLst>
                            <p:childTnLst>
                              <p:par>
                                <p:cTn id="566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8" dur="1000"/>
                                        <p:tgtEl>
                                          <p:spTgt spid="4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69" dur="1000" fill="hold"/>
                                        <p:tgtEl>
                                          <p:spTgt spid="4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70" dur="1000" fill="hold"/>
                                        <p:tgtEl>
                                          <p:spTgt spid="4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1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3" dur="1000"/>
                                        <p:tgtEl>
                                          <p:spTgt spid="4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74" dur="1000" fill="hold"/>
                                        <p:tgtEl>
                                          <p:spTgt spid="4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75" dur="1000" fill="hold"/>
                                        <p:tgtEl>
                                          <p:spTgt spid="4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6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8" dur="1000"/>
                                        <p:tgtEl>
                                          <p:spTgt spid="4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79" dur="1000" fill="hold"/>
                                        <p:tgtEl>
                                          <p:spTgt spid="4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80" dur="1000" fill="hold"/>
                                        <p:tgtEl>
                                          <p:spTgt spid="4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Rectangle 15"/>
          <p:cNvSpPr/>
          <p:nvPr/>
        </p:nvSpPr>
        <p:spPr>
          <a:xfrm>
            <a:off x="0" y="1778040"/>
            <a:ext cx="12189600" cy="5077440"/>
          </a:xfrm>
          <a:prstGeom prst="rect">
            <a:avLst/>
          </a:prstGeom>
          <a:solidFill>
            <a:srgbClr val="002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SQL Describe a table to see internal structure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2800" strike="noStrike" u="none">
                <a:solidFill>
                  <a:srgbClr val="ffc000"/>
                </a:solidFill>
                <a:effectLst/>
                <a:uFillTx/>
                <a:latin typeface="Consolas"/>
                <a:ea typeface="Verdana"/>
              </a:rPr>
              <a:t>DESCRIBE cities;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1" name="Picture 1" descr=""/>
          <p:cNvPicPr/>
          <p:nvPr/>
        </p:nvPicPr>
        <p:blipFill>
          <a:blip r:embed="rId1"/>
          <a:stretch/>
        </p:blipFill>
        <p:spPr>
          <a:xfrm>
            <a:off x="946080" y="3153960"/>
            <a:ext cx="6206040" cy="2214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81" dur="indefinite" restart="never" nodeType="tmRoot">
          <p:childTnLst>
            <p:seq>
              <p:cTn id="582" dur="indefinite" nodeType="mainSeq">
                <p:childTnLst>
                  <p:par>
                    <p:cTn id="583" fill="hold">
                      <p:stCondLst>
                        <p:cond delay="indefinite"/>
                      </p:stCondLst>
                      <p:childTnLst>
                        <p:par>
                          <p:cTn id="584" fill="hold">
                            <p:stCondLst>
                              <p:cond delay="0"/>
                            </p:stCondLst>
                            <p:childTnLst>
                              <p:par>
                                <p:cTn id="585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7" dur="1000"/>
                                        <p:tgtEl>
                                          <p:spTgt spid="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588" dur="1000" fill="hold"/>
                                        <p:tgtEl>
                                          <p:spTgt spid="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89" dur="1000" fill="hold"/>
                                        <p:tgtEl>
                                          <p:spTgt spid="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0" fill="hold">
                      <p:stCondLst>
                        <p:cond delay="indefinite"/>
                      </p:stCondLst>
                      <p:childTnLst>
                        <p:par>
                          <p:cTn id="591" fill="hold">
                            <p:stCondLst>
                              <p:cond delay="0"/>
                            </p:stCondLst>
                            <p:childTnLst>
                              <p:par>
                                <p:cTn id="59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Rectangle 16"/>
          <p:cNvSpPr/>
          <p:nvPr/>
        </p:nvSpPr>
        <p:spPr>
          <a:xfrm>
            <a:off x="0" y="1778040"/>
            <a:ext cx="12189600" cy="5077440"/>
          </a:xfrm>
          <a:prstGeom prst="rect">
            <a:avLst/>
          </a:prstGeom>
          <a:solidFill>
            <a:srgbClr val="002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SQL Insert data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398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RDBMSs allow slightly different INSERT commands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MySQL use the following: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2800" strike="noStrike" u="none">
                <a:solidFill>
                  <a:srgbClr val="ffc000"/>
                </a:solidFill>
                <a:effectLst/>
                <a:uFillTx/>
                <a:latin typeface="Consolas"/>
                <a:ea typeface="Consolas"/>
              </a:rPr>
              <a:t>INSERT INTO cities (city_id, name, country) VALUES (1,'London','GB');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2800" strike="noStrike" u="none">
                <a:solidFill>
                  <a:srgbClr val="ffc000"/>
                </a:solidFill>
                <a:effectLst/>
                <a:uFillTx/>
                <a:latin typeface="Consolas"/>
                <a:ea typeface="Consolas"/>
              </a:rPr>
              <a:t>INSERT INTO cities (city_id, name, country) VALUES (2,'New York City','US');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5" name="Picture 7" descr=""/>
          <p:cNvPicPr/>
          <p:nvPr/>
        </p:nvPicPr>
        <p:blipFill>
          <a:blip r:embed="rId1"/>
          <a:stretch/>
        </p:blipFill>
        <p:spPr>
          <a:xfrm>
            <a:off x="1785960" y="6061320"/>
            <a:ext cx="8617680" cy="54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94" dur="indefinite" restart="never" nodeType="tmRoot">
          <p:childTnLst>
            <p:seq>
              <p:cTn id="595" dur="indefinite" nodeType="mainSeq">
                <p:childTnLst>
                  <p:par>
                    <p:cTn id="596" fill="hold">
                      <p:stCondLst>
                        <p:cond delay="indefinite"/>
                      </p:stCondLst>
                      <p:childTnLst>
                        <p:par>
                          <p:cTn id="597" fill="hold">
                            <p:stCondLst>
                              <p:cond delay="0"/>
                            </p:stCondLst>
                            <p:childTnLst>
                              <p:par>
                                <p:cTn id="598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0" dur="1000"/>
                                        <p:tgtEl>
                                          <p:spTgt spid="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01" dur="1000" fill="hold"/>
                                        <p:tgtEl>
                                          <p:spTgt spid="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2" dur="1000" fill="hold"/>
                                        <p:tgtEl>
                                          <p:spTgt spid="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3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5" dur="1000"/>
                                        <p:tgtEl>
                                          <p:spTgt spid="4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06" dur="1000" fill="hold"/>
                                        <p:tgtEl>
                                          <p:spTgt spid="4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7" dur="1000" fill="hold"/>
                                        <p:tgtEl>
                                          <p:spTgt spid="4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8" fill="hold">
                      <p:stCondLst>
                        <p:cond delay="indefinite"/>
                      </p:stCondLst>
                      <p:childTnLst>
                        <p:par>
                          <p:cTn id="609" fill="hold">
                            <p:stCondLst>
                              <p:cond delay="0"/>
                            </p:stCondLst>
                            <p:childTnLst>
                              <p:par>
                                <p:cTn id="610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2" dur="1000"/>
                                        <p:tgtEl>
                                          <p:spTgt spid="4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13" dur="1000" fill="hold"/>
                                        <p:tgtEl>
                                          <p:spTgt spid="4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14" dur="1000" fill="hold"/>
                                        <p:tgtEl>
                                          <p:spTgt spid="4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5" fill="hold">
                      <p:stCondLst>
                        <p:cond delay="indefinite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9" dur="1000"/>
                                        <p:tgtEl>
                                          <p:spTgt spid="4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20" dur="1000" fill="hold"/>
                                        <p:tgtEl>
                                          <p:spTgt spid="4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1" dur="1000" fill="hold"/>
                                        <p:tgtEl>
                                          <p:spTgt spid="4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2" fill="hold">
                      <p:stCondLst>
                        <p:cond delay="indefinite"/>
                      </p:stCondLst>
                      <p:childTnLst>
                        <p:par>
                          <p:cTn id="623" fill="hold">
                            <p:stCondLst>
                              <p:cond delay="0"/>
                            </p:stCondLst>
                            <p:childTnLst>
                              <p:par>
                                <p:cTn id="62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Rectangle 17"/>
          <p:cNvSpPr/>
          <p:nvPr/>
        </p:nvSpPr>
        <p:spPr>
          <a:xfrm>
            <a:off x="0" y="1778040"/>
            <a:ext cx="12189600" cy="5077440"/>
          </a:xfrm>
          <a:prstGeom prst="rect">
            <a:avLst/>
          </a:prstGeom>
          <a:solidFill>
            <a:srgbClr val="002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SQL Insert data, 2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3985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When used from inside Python, PostgreSQL use the following: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2800" strike="noStrike" u="none">
                <a:solidFill>
                  <a:srgbClr val="ffc000"/>
                </a:solidFill>
                <a:effectLst/>
                <a:uFillTx/>
                <a:latin typeface="Consolas"/>
                <a:ea typeface="Consolas"/>
              </a:rPr>
              <a:t>"""INSERT INTO cities (city_id, name, country)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2800" strike="noStrike" u="none">
                <a:solidFill>
                  <a:srgbClr val="ffc000"/>
                </a:solidFill>
                <a:effectLst/>
                <a:uFillTx/>
                <a:latin typeface="Consolas"/>
                <a:ea typeface="Consolas"/>
              </a:rPr>
              <a:t>    VALUES (%s, %s, %s)""",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2800" strike="noStrike" u="none">
                <a:solidFill>
                  <a:srgbClr val="ffc000"/>
                </a:solidFill>
                <a:effectLst/>
                <a:uFillTx/>
                <a:latin typeface="Consolas"/>
                <a:ea typeface="Consolas"/>
              </a:rPr>
              <a:t>    (2,'New York City','US')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26" dur="indefinite" restart="never" nodeType="tmRoot">
          <p:childTnLst>
            <p:seq>
              <p:cTn id="627" dur="indefinite" nodeType="mainSeq">
                <p:childTnLst>
                  <p:par>
                    <p:cTn id="628" fill="hold">
                      <p:stCondLst>
                        <p:cond delay="0"/>
                      </p:stCondLst>
                      <p:childTnLst>
                        <p:par>
                          <p:cTn id="629" fill="hold">
                            <p:stCondLst>
                              <p:cond delay="0"/>
                            </p:stCondLst>
                            <p:childTnLst>
                              <p:par>
                                <p:cTn id="630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2" dur="1000"/>
                                        <p:tgtEl>
                                          <p:spTgt spid="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33" dur="1000" fill="hold"/>
                                        <p:tgtEl>
                                          <p:spTgt spid="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34" dur="1000" fill="hold"/>
                                        <p:tgtEl>
                                          <p:spTgt spid="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5" fill="hold">
                      <p:stCondLst>
                        <p:cond delay="indefinite"/>
                      </p:stCondLst>
                      <p:childTnLst>
                        <p:par>
                          <p:cTn id="636" fill="hold">
                            <p:stCondLst>
                              <p:cond delay="0"/>
                            </p:stCondLst>
                            <p:childTnLst>
                              <p:par>
                                <p:cTn id="637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9" dur="1000"/>
                                        <p:tgtEl>
                                          <p:spTgt spid="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40" dur="1000" fill="hold"/>
                                        <p:tgtEl>
                                          <p:spTgt spid="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1" dur="1000" fill="hold"/>
                                        <p:tgtEl>
                                          <p:spTgt spid="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Rectangle 18"/>
          <p:cNvSpPr/>
          <p:nvPr/>
        </p:nvSpPr>
        <p:spPr>
          <a:xfrm>
            <a:off x="0" y="3776040"/>
            <a:ext cx="6089400" cy="3079440"/>
          </a:xfrm>
          <a:prstGeom prst="rect">
            <a:avLst/>
          </a:prstGeom>
          <a:solidFill>
            <a:srgbClr val="2642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Select data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71" name="Content Placeholder 1"/>
          <p:cNvGraphicFramePr/>
          <p:nvPr/>
        </p:nvGraphicFramePr>
        <p:xfrm>
          <a:off x="838080" y="2425320"/>
          <a:ext cx="4377240" cy="1112400"/>
        </p:xfrm>
        <a:graphic>
          <a:graphicData uri="http://schemas.openxmlformats.org/drawingml/2006/table">
            <a:tbl>
              <a:tblPr/>
              <a:tblGrid>
                <a:gridCol w="1387800"/>
                <a:gridCol w="1524240"/>
                <a:gridCol w="1465560"/>
              </a:tblGrid>
              <a:tr h="37080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city_id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name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country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London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GB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  <a:tr h="37080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2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New York City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US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</a:tbl>
          </a:graphicData>
        </a:graphic>
      </p:graphicFrame>
      <p:sp>
        <p:nvSpPr>
          <p:cNvPr id="472" name="TextBox 9"/>
          <p:cNvSpPr/>
          <p:nvPr/>
        </p:nvSpPr>
        <p:spPr>
          <a:xfrm>
            <a:off x="846000" y="2014920"/>
            <a:ext cx="1905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trike="noStrike" u="none">
                <a:solidFill>
                  <a:srgbClr val="ffc000"/>
                </a:solidFill>
                <a:effectLst/>
                <a:uFillTx/>
                <a:latin typeface="Calibri"/>
                <a:ea typeface="DejaVu Sans"/>
              </a:rPr>
              <a:t>Table Name: cities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3" name="Picture 8" descr="https://cdn2.iconfinder.com/data/icons/circle-icons-1/64/key-256.png"/>
          <p:cNvPicPr/>
          <p:nvPr/>
        </p:nvPicPr>
        <p:blipFill>
          <a:blip r:embed="rId1">
            <a:biLevel thresh="50000"/>
          </a:blip>
          <a:stretch/>
        </p:blipFill>
        <p:spPr>
          <a:xfrm rot="2462400">
            <a:off x="1686960" y="247716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4" name="Rectangle 19"/>
          <p:cNvSpPr/>
          <p:nvPr/>
        </p:nvSpPr>
        <p:spPr>
          <a:xfrm>
            <a:off x="1065240" y="4105080"/>
            <a:ext cx="394236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0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SELECT * FROM cities;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Rectangle 20"/>
          <p:cNvSpPr/>
          <p:nvPr/>
        </p:nvSpPr>
        <p:spPr>
          <a:xfrm>
            <a:off x="6091920" y="3776040"/>
            <a:ext cx="6110280" cy="3079440"/>
          </a:xfrm>
          <a:prstGeom prst="rect">
            <a:avLst/>
          </a:prstGeom>
          <a:solidFill>
            <a:srgbClr val="002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6" name="Rectangle 21"/>
          <p:cNvSpPr/>
          <p:nvPr/>
        </p:nvSpPr>
        <p:spPr>
          <a:xfrm>
            <a:off x="6165360" y="3745080"/>
            <a:ext cx="6049080" cy="16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0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SELECT * 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0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FROM cities 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0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WHERE country = 'GB';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Rectangle 22"/>
          <p:cNvSpPr/>
          <p:nvPr/>
        </p:nvSpPr>
        <p:spPr>
          <a:xfrm>
            <a:off x="838080" y="1488600"/>
            <a:ext cx="8438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1800" strike="noStrike" u="none">
                <a:solidFill>
                  <a:srgbClr val="ffffff"/>
                </a:solidFill>
                <a:effectLst/>
                <a:uFillTx/>
                <a:latin typeface="Verdana"/>
                <a:ea typeface="DejaVu Sans"/>
              </a:rPr>
              <a:t>The SELECT statement is used to select data from a database.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8" name="Picture 9" descr=""/>
          <p:cNvPicPr/>
          <p:nvPr/>
        </p:nvPicPr>
        <p:blipFill>
          <a:blip r:embed="rId2"/>
          <a:stretch/>
        </p:blipFill>
        <p:spPr>
          <a:xfrm>
            <a:off x="1261800" y="4919040"/>
            <a:ext cx="3819600" cy="173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9" name="Picture 10" descr=""/>
          <p:cNvPicPr/>
          <p:nvPr/>
        </p:nvPicPr>
        <p:blipFill>
          <a:blip r:embed="rId3"/>
          <a:stretch/>
        </p:blipFill>
        <p:spPr>
          <a:xfrm>
            <a:off x="6591960" y="4919040"/>
            <a:ext cx="5207760" cy="1571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42" dur="indefinite" restart="never" nodeType="tmRoot">
          <p:childTnLst>
            <p:seq>
              <p:cTn id="643" dur="indefinite" nodeType="mainSeq">
                <p:childTnLst>
                  <p:par>
                    <p:cTn id="644" fill="hold">
                      <p:stCondLst>
                        <p:cond delay="indefinite"/>
                      </p:stCondLst>
                      <p:childTnLst>
                        <p:par>
                          <p:cTn id="645" fill="hold">
                            <p:stCondLst>
                              <p:cond delay="0"/>
                            </p:stCondLst>
                            <p:childTnLst>
                              <p:par>
                                <p:cTn id="646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8" dur="10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49" dur="100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50" dur="100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1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3" dur="10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54" dur="1000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55" dur="1000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6" fill="hold">
                      <p:stCondLst>
                        <p:cond delay="indefinite"/>
                      </p:stCondLst>
                      <p:childTnLst>
                        <p:par>
                          <p:cTn id="657" fill="hold">
                            <p:stCondLst>
                              <p:cond delay="0"/>
                            </p:stCondLst>
                            <p:childTnLst>
                              <p:par>
                                <p:cTn id="65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0" fill="hold">
                      <p:stCondLst>
                        <p:cond delay="indefinite"/>
                      </p:stCondLst>
                      <p:childTnLst>
                        <p:par>
                          <p:cTn id="661" fill="hold">
                            <p:stCondLst>
                              <p:cond delay="0"/>
                            </p:stCondLst>
                            <p:childTnLst>
                              <p:par>
                                <p:cTn id="662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4" dur="10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65" dur="10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66" dur="10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7" fill="hold">
                      <p:stCondLst>
                        <p:cond delay="indefinite"/>
                      </p:stCondLst>
                      <p:childTnLst>
                        <p:par>
                          <p:cTn id="668" fill="hold">
                            <p:stCondLst>
                              <p:cond delay="0"/>
                            </p:stCondLst>
                            <p:childTnLst>
                              <p:par>
                                <p:cTn id="6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1" fill="hold">
                      <p:stCondLst>
                        <p:cond delay="indefinite"/>
                      </p:stCondLst>
                      <p:childTnLst>
                        <p:par>
                          <p:cTn id="672" fill="hold">
                            <p:stCondLst>
                              <p:cond delay="0"/>
                            </p:stCondLst>
                            <p:childTnLst>
                              <p:par>
                                <p:cTn id="673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5" dur="10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76" dur="1000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77" dur="1000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8" fill="hold">
                      <p:stCondLst>
                        <p:cond delay="indefinite"/>
                      </p:stCondLst>
                      <p:childTnLst>
                        <p:par>
                          <p:cTn id="679" fill="hold">
                            <p:stCondLst>
                              <p:cond delay="0"/>
                            </p:stCondLst>
                            <p:childTnLst>
                              <p:par>
                                <p:cTn id="68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Update data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Rectangle 23"/>
          <p:cNvSpPr/>
          <p:nvPr/>
        </p:nvSpPr>
        <p:spPr>
          <a:xfrm>
            <a:off x="0" y="1781640"/>
            <a:ext cx="12189600" cy="5077440"/>
          </a:xfrm>
          <a:prstGeom prst="rect">
            <a:avLst/>
          </a:prstGeom>
          <a:solidFill>
            <a:srgbClr val="002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83" name="Rectangle 24"/>
          <p:cNvSpPr/>
          <p:nvPr/>
        </p:nvSpPr>
        <p:spPr>
          <a:xfrm>
            <a:off x="180000" y="2782440"/>
            <a:ext cx="114350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32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UPDATE cities SET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country='UK' </a:t>
            </a:r>
            <a:r>
              <a:rPr b="0" lang="en-GB" sz="32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WHERE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city_id=1</a:t>
            </a:r>
            <a:r>
              <a:rPr b="0" lang="en-GB" sz="32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;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Rectangle 25"/>
          <p:cNvSpPr/>
          <p:nvPr/>
        </p:nvSpPr>
        <p:spPr>
          <a:xfrm>
            <a:off x="1144080" y="3666960"/>
            <a:ext cx="690660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SQL&gt; SELECT * FROM cities;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   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5" name="Picture 11" descr=""/>
          <p:cNvPicPr/>
          <p:nvPr/>
        </p:nvPicPr>
        <p:blipFill>
          <a:blip r:embed="rId1"/>
          <a:stretch/>
        </p:blipFill>
        <p:spPr>
          <a:xfrm>
            <a:off x="2831040" y="4374000"/>
            <a:ext cx="4607640" cy="2237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82" dur="indefinite" restart="never" nodeType="tmRoot">
          <p:childTnLst>
            <p:seq>
              <p:cTn id="683" dur="indefinite" nodeType="mainSeq">
                <p:childTnLst>
                  <p:par>
                    <p:cTn id="684" fill="hold">
                      <p:stCondLst>
                        <p:cond delay="indefinite"/>
                      </p:stCondLst>
                      <p:childTnLst>
                        <p:par>
                          <p:cTn id="685" fill="hold">
                            <p:stCondLst>
                              <p:cond delay="0"/>
                            </p:stCondLst>
                            <p:childTnLst>
                              <p:par>
                                <p:cTn id="686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8" dur="10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89" dur="1000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90" dur="1000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1" fill="hold">
                      <p:stCondLst>
                        <p:cond delay="indefinite"/>
                      </p:stCondLst>
                      <p:childTnLst>
                        <p:par>
                          <p:cTn id="692" fill="hold">
                            <p:stCondLst>
                              <p:cond delay="0"/>
                            </p:stCondLst>
                            <p:childTnLst>
                              <p:par>
                                <p:cTn id="693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5" dur="10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696" dur="10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97" dur="10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8" fill="hold">
                      <p:stCondLst>
                        <p:cond delay="indefinite"/>
                      </p:stCondLst>
                      <p:childTnLst>
                        <p:par>
                          <p:cTn id="699" fill="hold">
                            <p:stCondLst>
                              <p:cond delay="0"/>
                            </p:stCondLst>
                            <p:childTnLst>
                              <p:par>
                                <p:cTn id="70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Rectangle 26"/>
          <p:cNvSpPr/>
          <p:nvPr/>
        </p:nvSpPr>
        <p:spPr>
          <a:xfrm>
            <a:off x="0" y="4298760"/>
            <a:ext cx="12189600" cy="2591640"/>
          </a:xfrm>
          <a:prstGeom prst="rect">
            <a:avLst/>
          </a:prstGeom>
          <a:solidFill>
            <a:srgbClr val="002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Quiz! Let’s create another table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PlaceHolder 2"/>
          <p:cNvSpPr>
            <a:spLocks noGrp="1"/>
          </p:cNvSpPr>
          <p:nvPr>
            <p:ph/>
          </p:nvPr>
        </p:nvSpPr>
        <p:spPr>
          <a:xfrm>
            <a:off x="2882880" y="4460760"/>
            <a:ext cx="7275960" cy="236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5000" lnSpcReduction="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2400" strike="noStrike" u="none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FillTx/>
                <a:latin typeface="Consolas"/>
                <a:ea typeface="Verdana"/>
              </a:rPr>
              <a:t>CREATE TABLE </a:t>
            </a:r>
            <a:r>
              <a:rPr b="0" lang="en-GB" sz="2400" strike="noStrike" u="none">
                <a:solidFill>
                  <a:srgbClr val="5dff31"/>
                </a:solidFill>
                <a:effectLst/>
                <a:uFillTx/>
                <a:latin typeface="Consolas"/>
                <a:ea typeface="Verdana"/>
              </a:rPr>
              <a:t>writers </a:t>
            </a:r>
            <a:br>
              <a:rPr sz="2400"/>
            </a:br>
            <a:r>
              <a:rPr b="0" lang="en-GB" sz="2400" strike="noStrike" u="none">
                <a:solidFill>
                  <a:srgbClr val="5dff31"/>
                </a:solidFill>
                <a:effectLst/>
                <a:uFillTx/>
                <a:latin typeface="Consolas"/>
                <a:ea typeface="Verdana"/>
              </a:rPr>
              <a:t>	</a:t>
            </a:r>
            <a:r>
              <a:rPr b="0" lang="en-GB" sz="2400" strike="noStrike" u="none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FillTx/>
                <a:latin typeface="Consolas"/>
                <a:ea typeface="Verdana"/>
              </a:rPr>
              <a:t>(</a:t>
            </a:r>
            <a:br>
              <a:rPr sz="2000"/>
            </a:br>
            <a:r>
              <a:rPr b="0" lang="en-GB" sz="2000" strike="noStrike" u="none">
                <a:solidFill>
                  <a:srgbClr val="5dff31"/>
                </a:solidFill>
                <a:effectLst/>
                <a:uFillTx/>
                <a:latin typeface="Consolas"/>
                <a:ea typeface="Verdana"/>
              </a:rPr>
              <a:t>	</a:t>
            </a:r>
            <a:r>
              <a:rPr b="0" lang="en-GB" sz="2000" strike="noStrike" u="none">
                <a:solidFill>
                  <a:srgbClr val="5dff31"/>
                </a:solidFill>
                <a:effectLst/>
                <a:uFillTx/>
                <a:latin typeface="Consolas"/>
                <a:ea typeface="Verdana"/>
              </a:rPr>
              <a:t>	</a:t>
            </a:r>
            <a:r>
              <a:rPr b="0" lang="en-GB" sz="2000" strike="noStrike" u="none">
                <a:solidFill>
                  <a:srgbClr val="5dff31"/>
                </a:solidFill>
                <a:effectLst/>
                <a:uFillTx/>
                <a:latin typeface="Consolas"/>
                <a:ea typeface="Verdana"/>
              </a:rPr>
              <a:t>writer_id </a:t>
            </a:r>
            <a:r>
              <a:rPr b="0" lang="en-GB" sz="2400" strike="noStrike" u="none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FillTx/>
                <a:latin typeface="Consolas"/>
                <a:ea typeface="Verdana"/>
              </a:rPr>
              <a:t>INTEGER PRIMARY KEY, </a:t>
            </a:r>
            <a:br>
              <a:rPr sz="2000"/>
            </a:br>
            <a:r>
              <a:rPr b="0" lang="en-GB" sz="2000" strike="noStrike" u="none">
                <a:solidFill>
                  <a:srgbClr val="5dff31"/>
                </a:solidFill>
                <a:effectLst/>
                <a:uFillTx/>
                <a:latin typeface="Consolas"/>
                <a:ea typeface="Verdana"/>
              </a:rPr>
              <a:t>	</a:t>
            </a:r>
            <a:r>
              <a:rPr b="0" lang="en-GB" sz="2000" strike="noStrike" u="none">
                <a:solidFill>
                  <a:srgbClr val="5dff31"/>
                </a:solidFill>
                <a:effectLst/>
                <a:uFillTx/>
                <a:latin typeface="Consolas"/>
                <a:ea typeface="Verdana"/>
              </a:rPr>
              <a:t>	</a:t>
            </a:r>
            <a:r>
              <a:rPr b="0" lang="en-GB" sz="2000" strike="noStrike" u="none">
                <a:solidFill>
                  <a:srgbClr val="5dff31"/>
                </a:solidFill>
                <a:effectLst/>
                <a:uFillTx/>
                <a:latin typeface="Consolas"/>
                <a:ea typeface="Verdana"/>
              </a:rPr>
              <a:t>writer_fname </a:t>
            </a:r>
            <a:r>
              <a:rPr b="0" lang="en-GB" sz="2400" strike="noStrike" u="none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FillTx/>
                <a:latin typeface="Consolas"/>
                <a:ea typeface="Verdana"/>
              </a:rPr>
              <a:t>VARCHAR(24) NOT NULL, </a:t>
            </a:r>
            <a:br>
              <a:rPr sz="2000"/>
            </a:br>
            <a:r>
              <a:rPr b="0" lang="en-GB" sz="2000" strike="noStrike" u="none">
                <a:solidFill>
                  <a:srgbClr val="5dff31"/>
                </a:solidFill>
                <a:effectLst/>
                <a:uFillTx/>
                <a:latin typeface="Consolas"/>
                <a:ea typeface="Verdana"/>
              </a:rPr>
              <a:t>	</a:t>
            </a:r>
            <a:r>
              <a:rPr b="0" lang="en-GB" sz="2000" strike="noStrike" u="none">
                <a:solidFill>
                  <a:srgbClr val="5dff31"/>
                </a:solidFill>
                <a:effectLst/>
                <a:uFillTx/>
                <a:latin typeface="Consolas"/>
                <a:ea typeface="Verdana"/>
              </a:rPr>
              <a:t>	</a:t>
            </a:r>
            <a:r>
              <a:rPr b="0" lang="en-GB" sz="2000" strike="noStrike" u="none">
                <a:solidFill>
                  <a:srgbClr val="5dff31"/>
                </a:solidFill>
                <a:effectLst/>
                <a:uFillTx/>
                <a:latin typeface="Consolas"/>
                <a:ea typeface="Verdana"/>
              </a:rPr>
              <a:t>writer_lname </a:t>
            </a:r>
            <a:r>
              <a:rPr b="0" lang="en-GB" sz="2400" strike="noStrike" u="none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FillTx/>
                <a:latin typeface="Consolas"/>
                <a:ea typeface="Verdana"/>
              </a:rPr>
              <a:t>varchar(24) NOT NULL, </a:t>
            </a:r>
            <a:br>
              <a:rPr sz="2000"/>
            </a:br>
            <a:r>
              <a:rPr b="0" lang="en-GB" sz="2000" strike="noStrike" u="none">
                <a:solidFill>
                  <a:srgbClr val="5dff31"/>
                </a:solidFill>
                <a:effectLst/>
                <a:uFillTx/>
                <a:latin typeface="Consolas"/>
                <a:ea typeface="Verdana"/>
              </a:rPr>
              <a:t>	</a:t>
            </a:r>
            <a:r>
              <a:rPr b="0" lang="en-GB" sz="2000" strike="noStrike" u="none">
                <a:solidFill>
                  <a:srgbClr val="5dff31"/>
                </a:solidFill>
                <a:effectLst/>
                <a:uFillTx/>
                <a:latin typeface="Consolas"/>
                <a:ea typeface="Verdana"/>
              </a:rPr>
              <a:t>	</a:t>
            </a:r>
            <a:r>
              <a:rPr b="0" lang="en-GB" sz="2000" strike="noStrike" u="none">
                <a:solidFill>
                  <a:srgbClr val="5dff31"/>
                </a:solidFill>
                <a:effectLst/>
                <a:uFillTx/>
                <a:latin typeface="Consolas"/>
                <a:ea typeface="Verdana"/>
              </a:rPr>
              <a:t>writer_gender </a:t>
            </a:r>
            <a:r>
              <a:rPr b="0" lang="en-GB" sz="2400" strike="noStrike" u="none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FillTx/>
                <a:latin typeface="Consolas"/>
                <a:ea typeface="Verdana"/>
              </a:rPr>
              <a:t>varchar(1), </a:t>
            </a:r>
            <a:br>
              <a:rPr sz="2000"/>
            </a:br>
            <a:r>
              <a:rPr b="0" lang="en-GB" sz="2000" strike="noStrike" u="none">
                <a:solidFill>
                  <a:srgbClr val="5dff31"/>
                </a:solidFill>
                <a:effectLst/>
                <a:uFillTx/>
                <a:latin typeface="Consolas"/>
                <a:ea typeface="Verdana"/>
              </a:rPr>
              <a:t>	</a:t>
            </a:r>
            <a:r>
              <a:rPr b="0" lang="en-GB" sz="2000" strike="noStrike" u="none">
                <a:solidFill>
                  <a:srgbClr val="5dff31"/>
                </a:solidFill>
                <a:effectLst/>
                <a:uFillTx/>
                <a:latin typeface="Consolas"/>
                <a:ea typeface="Verdana"/>
              </a:rPr>
              <a:t>	</a:t>
            </a:r>
            <a:r>
              <a:rPr b="0" lang="en-GB" sz="2000" strike="noStrike" u="none">
                <a:solidFill>
                  <a:srgbClr val="5dff31"/>
                </a:solidFill>
                <a:effectLst/>
                <a:uFillTx/>
                <a:latin typeface="Consolas"/>
                <a:ea typeface="Verdana"/>
              </a:rPr>
              <a:t>writer_birth_year </a:t>
            </a:r>
            <a:r>
              <a:rPr b="0" lang="en-GB" sz="2400" strike="noStrike" u="none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FillTx/>
                <a:latin typeface="Consolas"/>
                <a:ea typeface="Verdana"/>
              </a:rPr>
              <a:t>INTEGER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2000" strike="noStrike" u="none">
                <a:solidFill>
                  <a:srgbClr val="5dff31"/>
                </a:solidFill>
                <a:effectLst/>
                <a:uFillTx/>
                <a:latin typeface="Consolas"/>
                <a:ea typeface="Verdana"/>
              </a:rPr>
              <a:t>	</a:t>
            </a:r>
            <a:r>
              <a:rPr b="0" lang="en-GB" sz="2400" strike="noStrike" u="none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FillTx/>
                <a:latin typeface="Consolas"/>
                <a:ea typeface="Verdana"/>
              </a:rPr>
              <a:t>);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89" name="Content Placeholder 5"/>
          <p:cNvGraphicFramePr/>
          <p:nvPr/>
        </p:nvGraphicFramePr>
        <p:xfrm>
          <a:off x="60120" y="2097000"/>
          <a:ext cx="12071520" cy="1994760"/>
        </p:xfrm>
        <a:graphic>
          <a:graphicData uri="http://schemas.openxmlformats.org/drawingml/2006/table">
            <a:tbl>
              <a:tblPr/>
              <a:tblGrid>
                <a:gridCol w="2053440"/>
                <a:gridCol w="2458080"/>
                <a:gridCol w="2143440"/>
                <a:gridCol w="2577960"/>
                <a:gridCol w="2838960"/>
              </a:tblGrid>
              <a:tr h="5115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8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writer_id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8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writer_fname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GB" sz="18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writer_lname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8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writer_gender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8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writer_birth_year</a:t>
                      </a:r>
                      <a:endParaRPr b="0" lang="en-GB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0d0d0d"/>
                    </a:solidFill>
                  </a:tcPr>
                </a:tc>
              </a:tr>
              <a:tr h="37080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100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Agatha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Christie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F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1890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  <a:tr h="37080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101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J.R.R.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Tolkien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M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1892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  <a:tr h="37080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102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Charles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Dickens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M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1812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  <a:tr h="37080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103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J.K.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Rowling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F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1965</a:t>
                      </a:r>
                      <a:endParaRPr b="0" lang="en-GB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</a:tbl>
          </a:graphicData>
        </a:graphic>
      </p:graphicFrame>
      <p:pic>
        <p:nvPicPr>
          <p:cNvPr id="490" name="Picture 12" descr="https://cdn2.iconfinder.com/data/icons/circle-icons-1/64/key-256.png"/>
          <p:cNvPicPr/>
          <p:nvPr/>
        </p:nvPicPr>
        <p:blipFill>
          <a:blip r:embed="rId1">
            <a:biLevel thresh="50000"/>
          </a:blip>
          <a:stretch/>
        </p:blipFill>
        <p:spPr>
          <a:xfrm rot="2462400">
            <a:off x="1591200" y="2246400"/>
            <a:ext cx="256320" cy="25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1" name="TextBox 10"/>
          <p:cNvSpPr/>
          <p:nvPr/>
        </p:nvSpPr>
        <p:spPr>
          <a:xfrm>
            <a:off x="3682440" y="1321200"/>
            <a:ext cx="178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trike="noStrike" u="none">
                <a:solidFill>
                  <a:srgbClr val="ffff00"/>
                </a:solidFill>
                <a:effectLst/>
                <a:uFillTx/>
                <a:latin typeface="Calibri"/>
                <a:ea typeface="DejaVu Sans"/>
              </a:rPr>
              <a:t>Cannot be empty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92" name="Straight Arrow Connector 3"/>
          <p:cNvCxnSpPr>
            <a:stCxn id="491" idx="2"/>
          </p:cNvCxnSpPr>
          <p:nvPr/>
        </p:nvCxnSpPr>
        <p:spPr>
          <a:xfrm>
            <a:off x="4573440" y="1685160"/>
            <a:ext cx="906840" cy="355680"/>
          </a:xfrm>
          <a:prstGeom prst="straightConnector1">
            <a:avLst/>
          </a:prstGeom>
          <a:ln w="0">
            <a:solidFill>
              <a:srgbClr val="ffc000"/>
            </a:solidFill>
            <a:tailEnd len="med" type="triangle" w="med"/>
          </a:ln>
        </p:spPr>
      </p:cxnSp>
      <p:cxnSp>
        <p:nvCxnSpPr>
          <p:cNvPr id="493" name="Straight Arrow Connector 4"/>
          <p:cNvCxnSpPr>
            <a:stCxn id="491" idx="2"/>
          </p:cNvCxnSpPr>
          <p:nvPr/>
        </p:nvCxnSpPr>
        <p:spPr>
          <a:xfrm flipH="1">
            <a:off x="3795840" y="1685160"/>
            <a:ext cx="777960" cy="308880"/>
          </a:xfrm>
          <a:prstGeom prst="straightConnector1">
            <a:avLst/>
          </a:prstGeom>
          <a:ln w="0">
            <a:solidFill>
              <a:srgbClr val="ffc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02" dur="indefinite" restart="never" nodeType="tmRoot">
          <p:childTnLst>
            <p:seq>
              <p:cTn id="703" dur="indefinite" nodeType="mainSeq">
                <p:childTnLst>
                  <p:par>
                    <p:cTn id="704" fill="hold">
                      <p:stCondLst>
                        <p:cond delay="indefinite"/>
                      </p:stCondLst>
                      <p:childTnLst>
                        <p:par>
                          <p:cTn id="705" fill="hold">
                            <p:stCondLst>
                              <p:cond delay="0"/>
                            </p:stCondLst>
                            <p:childTnLst>
                              <p:par>
                                <p:cTn id="70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2" fill="hold">
                      <p:stCondLst>
                        <p:cond delay="indefinite"/>
                      </p:stCondLst>
                      <p:childTnLst>
                        <p:par>
                          <p:cTn id="713" fill="hold">
                            <p:stCondLst>
                              <p:cond delay="0"/>
                            </p:stCondLst>
                            <p:childTnLst>
                              <p:par>
                                <p:cTn id="714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6" dur="1000"/>
                                        <p:tgtEl>
                                          <p:spTgt spid="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17" dur="1000" fill="hold"/>
                                        <p:tgtEl>
                                          <p:spTgt spid="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18" dur="1000" fill="hold"/>
                                        <p:tgtEl>
                                          <p:spTgt spid="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1" dur="1000"/>
                                        <p:tgtEl>
                                          <p:spTgt spid="4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22" dur="1000" fill="hold"/>
                                        <p:tgtEl>
                                          <p:spTgt spid="4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23" dur="1000" fill="hold"/>
                                        <p:tgtEl>
                                          <p:spTgt spid="4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Insert data by the row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Rectangle 27"/>
          <p:cNvSpPr/>
          <p:nvPr/>
        </p:nvSpPr>
        <p:spPr>
          <a:xfrm>
            <a:off x="0" y="1781640"/>
            <a:ext cx="12189600" cy="5077440"/>
          </a:xfrm>
          <a:prstGeom prst="rect">
            <a:avLst/>
          </a:prstGeom>
          <a:solidFill>
            <a:srgbClr val="002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97" name="Rectangle 28"/>
          <p:cNvSpPr/>
          <p:nvPr/>
        </p:nvSpPr>
        <p:spPr>
          <a:xfrm>
            <a:off x="546120" y="2278800"/>
            <a:ext cx="11435040" cy="40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000" strike="noStrike" u="none">
                <a:solidFill>
                  <a:srgbClr val="ffc000"/>
                </a:solidFill>
                <a:effectLst/>
                <a:uFillTx/>
                <a:latin typeface="Consolas"/>
                <a:ea typeface="DejaVu Sans"/>
              </a:rPr>
              <a:t>INSERT INTO </a:t>
            </a: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WRITERS (WRITER_ID, WRITER_FNAME, WRITER_LNAME, WRITER_GENDER, WRITER_BIRTH_YEAR) 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	</a:t>
            </a:r>
            <a:r>
              <a:rPr b="0" lang="en-GB" sz="20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VALUES</a:t>
            </a: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 </a:t>
            </a: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(100, 'AGATHA','CHRISTIE','F',1890)</a:t>
            </a:r>
            <a:r>
              <a:rPr b="0" lang="en-GB" sz="20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;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000" strike="noStrike" u="none">
                <a:solidFill>
                  <a:srgbClr val="ffc000"/>
                </a:solidFill>
                <a:effectLst/>
                <a:uFillTx/>
                <a:latin typeface="Consolas"/>
                <a:ea typeface="DejaVu Sans"/>
              </a:rPr>
              <a:t>INSERT INTO </a:t>
            </a: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WRITERS (WRITER_ID, WRITER_FNAME, WRITER_LNAME, WRITER_GENDER, WRITER_BIRTH_YEAR) 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	</a:t>
            </a:r>
            <a:r>
              <a:rPr b="0" lang="en-GB" sz="20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VALUES</a:t>
            </a: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  </a:t>
            </a: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(101, 'J.R.R.','TOLKIEN','M',1892)</a:t>
            </a:r>
            <a:r>
              <a:rPr b="0" lang="en-GB" sz="20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;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000" strike="noStrike" u="none">
                <a:solidFill>
                  <a:srgbClr val="ffc000"/>
                </a:solidFill>
                <a:effectLst/>
                <a:uFillTx/>
                <a:latin typeface="Consolas"/>
                <a:ea typeface="DejaVu Sans"/>
              </a:rPr>
              <a:t>INSERT INTO </a:t>
            </a: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WRITERS (WRITER_ID, WRITER_FNAME, WRITER_LNAME, WRITER_GENDER, WRITER_BIRTH_YEAR) 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	</a:t>
            </a:r>
            <a:r>
              <a:rPr b="0" lang="en-GB" sz="20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VALUES</a:t>
            </a: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  </a:t>
            </a: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(105, 'Rowland','Atkinson', NULL, NULL)</a:t>
            </a:r>
            <a:r>
              <a:rPr b="0" lang="en-GB" sz="20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;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24" dur="indefinite" restart="never" nodeType="tmRoot">
          <p:childTnLst>
            <p:seq>
              <p:cTn id="725" dur="indefinite" nodeType="mainSeq">
                <p:childTnLst>
                  <p:par>
                    <p:cTn id="726" fill="hold">
                      <p:stCondLst>
                        <p:cond delay="indefinite"/>
                      </p:stCondLst>
                      <p:childTnLst>
                        <p:par>
                          <p:cTn id="727" fill="hold">
                            <p:stCondLst>
                              <p:cond delay="0"/>
                            </p:stCondLst>
                            <p:childTnLst>
                              <p:par>
                                <p:cTn id="728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0" dur="1000"/>
                                        <p:tgtEl>
                                          <p:spTgt spid="4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31" dur="1000" fill="hold"/>
                                        <p:tgtEl>
                                          <p:spTgt spid="4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32" dur="1000" fill="hold"/>
                                        <p:tgtEl>
                                          <p:spTgt spid="4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3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5" dur="1000"/>
                                        <p:tgtEl>
                                          <p:spTgt spid="4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36" dur="1000" fill="hold"/>
                                        <p:tgtEl>
                                          <p:spTgt spid="4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37" dur="1000" fill="hold"/>
                                        <p:tgtEl>
                                          <p:spTgt spid="4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8" fill="hold">
                      <p:stCondLst>
                        <p:cond delay="indefinite"/>
                      </p:stCondLst>
                      <p:childTnLst>
                        <p:par>
                          <p:cTn id="739" fill="hold">
                            <p:stCondLst>
                              <p:cond delay="0"/>
                            </p:stCondLst>
                            <p:childTnLst>
                              <p:par>
                                <p:cTn id="740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2" dur="1000"/>
                                        <p:tgtEl>
                                          <p:spTgt spid="4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43" dur="1000" fill="hold"/>
                                        <p:tgtEl>
                                          <p:spTgt spid="4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44" dur="1000" fill="hold"/>
                                        <p:tgtEl>
                                          <p:spTgt spid="4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5" nodeType="with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7" dur="1000"/>
                                        <p:tgtEl>
                                          <p:spTgt spid="4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48" dur="1000" fill="hold"/>
                                        <p:tgtEl>
                                          <p:spTgt spid="4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49" dur="1000" fill="hold"/>
                                        <p:tgtEl>
                                          <p:spTgt spid="4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Insert several rows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Rectangle 29"/>
          <p:cNvSpPr/>
          <p:nvPr/>
        </p:nvSpPr>
        <p:spPr>
          <a:xfrm>
            <a:off x="0" y="1781640"/>
            <a:ext cx="12189600" cy="5077440"/>
          </a:xfrm>
          <a:prstGeom prst="rect">
            <a:avLst/>
          </a:prstGeom>
          <a:solidFill>
            <a:srgbClr val="002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01" name="Rectangle 30"/>
          <p:cNvSpPr/>
          <p:nvPr/>
        </p:nvSpPr>
        <p:spPr>
          <a:xfrm>
            <a:off x="554760" y="2278800"/>
            <a:ext cx="11435040" cy="25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400" strike="noStrike" u="none">
                <a:solidFill>
                  <a:srgbClr val="ffc000"/>
                </a:solidFill>
                <a:effectLst/>
                <a:uFillTx/>
                <a:latin typeface="Consolas"/>
                <a:ea typeface="DejaVu Sans"/>
              </a:rPr>
              <a:t>INSERT INTO 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writers (writer_id, writer_fname, writer_lname, writer_gender, writer_birth_year) 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Consolas"/>
                <a:ea typeface="DejaVu Sans"/>
              </a:rPr>
              <a:t>	</a:t>
            </a:r>
            <a:r>
              <a:rPr b="0" lang="en-GB" sz="24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VALUES 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(100, 'Agatha','Christie','F',1890)</a:t>
            </a:r>
            <a:r>
              <a:rPr b="0" lang="en-GB" sz="24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,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4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	</a:t>
            </a:r>
            <a:r>
              <a:rPr b="0" lang="en-GB" sz="24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       </a:t>
            </a:r>
            <a:r>
              <a:rPr b="0" lang="en-GB" sz="24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(101, 'J.R.R.','Tolkien','M',1892)</a:t>
            </a:r>
            <a:r>
              <a:rPr b="0" lang="en-GB" sz="24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,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4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             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(102, 'Charles','Dickens','M',1812),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4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             </a:t>
            </a:r>
            <a:r>
              <a:rPr b="0" lang="fr-FR" sz="24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(103,'J.K.', 'Rowling','F',1965)</a:t>
            </a:r>
            <a:r>
              <a:rPr b="0" lang="fr-FR" sz="24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;</a:t>
            </a:r>
            <a:endParaRPr b="0" lang="en-GB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2" name="Picture 13" descr=""/>
          <p:cNvPicPr/>
          <p:nvPr/>
        </p:nvPicPr>
        <p:blipFill>
          <a:blip r:embed="rId1"/>
          <a:stretch/>
        </p:blipFill>
        <p:spPr>
          <a:xfrm>
            <a:off x="699480" y="4781160"/>
            <a:ext cx="4649400" cy="608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Quiz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Let us assume that we have a </a:t>
            </a:r>
            <a:r>
              <a:rPr b="1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customers</a:t>
            </a: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 table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Identify the customers primary key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What is the data type of </a:t>
            </a:r>
            <a:r>
              <a:rPr b="1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CustomerName</a:t>
            </a: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?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What is the data type of </a:t>
            </a:r>
            <a:r>
              <a:rPr b="1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Address</a:t>
            </a: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?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5" name="Picture 14" descr=""/>
          <p:cNvPicPr/>
          <p:nvPr/>
        </p:nvPicPr>
        <p:blipFill>
          <a:blip r:embed="rId1"/>
          <a:stretch/>
        </p:blipFill>
        <p:spPr>
          <a:xfrm>
            <a:off x="875520" y="2461320"/>
            <a:ext cx="6057360" cy="2029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Quiz solution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81224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2500"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Let us assume that we have a </a:t>
            </a:r>
            <a:r>
              <a:rPr b="1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customers</a:t>
            </a: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 table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Identify the customers primary key: </a:t>
            </a:r>
            <a:r>
              <a:rPr b="0" lang="en-GB" sz="2800" strike="noStrike" u="none">
                <a:solidFill>
                  <a:srgbClr val="ffc000"/>
                </a:solidFill>
                <a:effectLst/>
                <a:uFillTx/>
                <a:latin typeface="Verdana"/>
                <a:ea typeface="Verdana"/>
              </a:rPr>
              <a:t>CustomerID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What is the data type of </a:t>
            </a:r>
            <a:r>
              <a:rPr b="1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CustomerName</a:t>
            </a: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?   </a:t>
            </a:r>
            <a:r>
              <a:rPr b="0" lang="en-GB" sz="2800" strike="noStrike" u="none">
                <a:solidFill>
                  <a:srgbClr val="ffc000"/>
                </a:solidFill>
                <a:effectLst/>
                <a:uFillTx/>
                <a:latin typeface="Verdana"/>
                <a:ea typeface="Verdana"/>
              </a:rPr>
              <a:t>VARCHAR(25)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What is the data type of </a:t>
            </a:r>
            <a:r>
              <a:rPr b="1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Address</a:t>
            </a: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?   </a:t>
            </a:r>
            <a:r>
              <a:rPr b="0" lang="en-GB" sz="2800" strike="noStrike" u="none">
                <a:solidFill>
                  <a:srgbClr val="ffc000"/>
                </a:solidFill>
                <a:effectLst/>
                <a:uFillTx/>
                <a:latin typeface="Verdana"/>
                <a:ea typeface="Verdana"/>
              </a:rPr>
              <a:t>TEXT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8" name="Picture 15" descr=""/>
          <p:cNvPicPr/>
          <p:nvPr/>
        </p:nvPicPr>
        <p:blipFill>
          <a:blip r:embed="rId1"/>
          <a:stretch/>
        </p:blipFill>
        <p:spPr>
          <a:xfrm>
            <a:off x="915120" y="2531880"/>
            <a:ext cx="5611320" cy="1879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title"/>
          </p:nvPr>
        </p:nvSpPr>
        <p:spPr>
          <a:xfrm>
            <a:off x="238680" y="247680"/>
            <a:ext cx="1161792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Select data using WHERE clause to filter records</a:t>
            </a:r>
            <a:endParaRPr b="0" lang="en-GB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Rectangle 31"/>
          <p:cNvSpPr/>
          <p:nvPr/>
        </p:nvSpPr>
        <p:spPr>
          <a:xfrm>
            <a:off x="0" y="1573200"/>
            <a:ext cx="12189600" cy="5282280"/>
          </a:xfrm>
          <a:prstGeom prst="rect">
            <a:avLst/>
          </a:prstGeom>
          <a:solidFill>
            <a:srgbClr val="002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12" name="Rectangle 32"/>
          <p:cNvSpPr/>
          <p:nvPr/>
        </p:nvSpPr>
        <p:spPr>
          <a:xfrm>
            <a:off x="238680" y="1548720"/>
            <a:ext cx="1143504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8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SELECT </a:t>
            </a: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writer_fname, writer_lname 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8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FROM </a:t>
            </a: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writers</a:t>
            </a:r>
            <a:r>
              <a:rPr b="0" lang="en-GB" sz="28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 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8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WHERE </a:t>
            </a: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writer_gender = 'F' AND country = ‘UK’</a:t>
            </a:r>
            <a:r>
              <a:rPr b="0" lang="en-GB" sz="28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;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3" name="Picture 16" descr=""/>
          <p:cNvPicPr/>
          <p:nvPr/>
        </p:nvPicPr>
        <p:blipFill>
          <a:blip r:embed="rId1"/>
          <a:stretch/>
        </p:blipFill>
        <p:spPr>
          <a:xfrm>
            <a:off x="5704560" y="5363280"/>
            <a:ext cx="6317640" cy="13467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514" name="Content Placeholder 6"/>
          <p:cNvGraphicFramePr/>
          <p:nvPr/>
        </p:nvGraphicFramePr>
        <p:xfrm>
          <a:off x="2589120" y="2928960"/>
          <a:ext cx="6860880" cy="1769400"/>
        </p:xfrm>
        <a:graphic>
          <a:graphicData uri="http://schemas.openxmlformats.org/drawingml/2006/table">
            <a:tbl>
              <a:tblPr/>
              <a:tblGrid>
                <a:gridCol w="1235880"/>
                <a:gridCol w="1328400"/>
                <a:gridCol w="1301760"/>
                <a:gridCol w="1463760"/>
                <a:gridCol w="1531440"/>
              </a:tblGrid>
              <a:tr h="42660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writer_id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writer_fname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writer_lname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writer_gender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writer_birth_year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100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Agatha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Christie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F </a:t>
                      </a: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uFillTx/>
                          <a:latin typeface="Calibri"/>
                          <a:ea typeface="DejaVu Sans"/>
                        </a:rPr>
                        <a:t>         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1890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101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J.R.R.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Tolkien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M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1892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102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Charles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Dickens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M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1812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103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J.K.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Rowling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F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1965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</a:tbl>
          </a:graphicData>
        </a:graphic>
      </p:graphicFrame>
      <p:sp>
        <p:nvSpPr>
          <p:cNvPr id="515" name="Rectangle: Rounded Corners 5"/>
          <p:cNvSpPr/>
          <p:nvPr/>
        </p:nvSpPr>
        <p:spPr>
          <a:xfrm>
            <a:off x="3865680" y="3391920"/>
            <a:ext cx="2545200" cy="228600"/>
          </a:xfrm>
          <a:prstGeom prst="roundRect">
            <a:avLst>
              <a:gd name="adj" fmla="val 16667"/>
            </a:avLst>
          </a:prstGeom>
          <a:solidFill>
            <a:srgbClr val="ffff66">
              <a:alpha val="33000"/>
            </a:srgb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16" name="Rectangle: Rounded Corners 6"/>
          <p:cNvSpPr/>
          <p:nvPr/>
        </p:nvSpPr>
        <p:spPr>
          <a:xfrm>
            <a:off x="3881520" y="4425480"/>
            <a:ext cx="2409120" cy="228600"/>
          </a:xfrm>
          <a:prstGeom prst="roundRect">
            <a:avLst>
              <a:gd name="adj" fmla="val 16667"/>
            </a:avLst>
          </a:prstGeom>
          <a:solidFill>
            <a:srgbClr val="ffff66">
              <a:alpha val="33000"/>
            </a:srgb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17" name="Rectangle: Rounded Corners 7"/>
          <p:cNvSpPr/>
          <p:nvPr/>
        </p:nvSpPr>
        <p:spPr>
          <a:xfrm>
            <a:off x="6533280" y="3391920"/>
            <a:ext cx="989280" cy="210960"/>
          </a:xfrm>
          <a:prstGeom prst="roundRect">
            <a:avLst>
              <a:gd name="adj" fmla="val 16667"/>
            </a:avLst>
          </a:prstGeom>
          <a:solidFill>
            <a:srgbClr val="ff6600">
              <a:alpha val="32000"/>
            </a:srgb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18" name="Rectangle: Rounded Corners 8"/>
          <p:cNvSpPr/>
          <p:nvPr/>
        </p:nvSpPr>
        <p:spPr>
          <a:xfrm>
            <a:off x="6533280" y="4425480"/>
            <a:ext cx="989280" cy="210960"/>
          </a:xfrm>
          <a:prstGeom prst="roundRect">
            <a:avLst>
              <a:gd name="adj" fmla="val 16667"/>
            </a:avLst>
          </a:prstGeom>
          <a:solidFill>
            <a:srgbClr val="ff6600">
              <a:alpha val="32000"/>
            </a:srgb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50" dur="indefinite" restart="never" nodeType="tmRoot">
          <p:childTnLst>
            <p:seq>
              <p:cTn id="751" dur="indefinite" nodeType="mainSeq">
                <p:childTnLst>
                  <p:par>
                    <p:cTn id="752" fill="hold">
                      <p:stCondLst>
                        <p:cond delay="indefinite"/>
                      </p:stCondLst>
                      <p:childTnLst>
                        <p:par>
                          <p:cTn id="753" fill="hold">
                            <p:stCondLst>
                              <p:cond delay="0"/>
                            </p:stCondLst>
                            <p:childTnLst>
                              <p:par>
                                <p:cTn id="754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6" dur="10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57" dur="1000" fill="hold"/>
                                        <p:tgtEl>
                                          <p:spTgt spid="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58" dur="1000" fill="hold"/>
                                        <p:tgtEl>
                                          <p:spTgt spid="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9" fill="hold">
                      <p:stCondLst>
                        <p:cond delay="indefinite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3" fill="hold">
                      <p:stCondLst>
                        <p:cond delay="indefinite"/>
                      </p:stCondLst>
                      <p:childTnLst>
                        <p:par>
                          <p:cTn id="764" fill="hold">
                            <p:stCondLst>
                              <p:cond delay="0"/>
                            </p:stCondLst>
                            <p:childTnLst>
                              <p:par>
                                <p:cTn id="7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3" fill="hold">
                      <p:stCondLst>
                        <p:cond delay="indefinite"/>
                      </p:stCondLst>
                      <p:childTnLst>
                        <p:par>
                          <p:cTn id="774" fill="hold">
                            <p:stCondLst>
                              <p:cond delay="0"/>
                            </p:stCondLst>
                            <p:childTnLst>
                              <p:par>
                                <p:cTn id="7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180000" y="157680"/>
            <a:ext cx="1200960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Select data using WHERE clause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to filter records cont.</a:t>
            </a:r>
            <a:endParaRPr b="0" lang="en-GB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Rectangle 33"/>
          <p:cNvSpPr/>
          <p:nvPr/>
        </p:nvSpPr>
        <p:spPr>
          <a:xfrm>
            <a:off x="0" y="1483200"/>
            <a:ext cx="12189600" cy="5375520"/>
          </a:xfrm>
          <a:prstGeom prst="rect">
            <a:avLst/>
          </a:prstGeom>
          <a:solidFill>
            <a:srgbClr val="002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22" name="Rectangle 34"/>
          <p:cNvSpPr/>
          <p:nvPr/>
        </p:nvSpPr>
        <p:spPr>
          <a:xfrm>
            <a:off x="265680" y="1505880"/>
            <a:ext cx="114350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2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SELECT </a:t>
            </a:r>
            <a:r>
              <a:rPr b="0" lang="en-GB" sz="22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writer_fname, writer_lname </a:t>
            </a:r>
            <a:endParaRPr b="0" lang="en-GB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2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FROM </a:t>
            </a:r>
            <a:r>
              <a:rPr b="0" lang="en-GB" sz="22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writers</a:t>
            </a:r>
            <a:r>
              <a:rPr b="0" lang="en-GB" sz="22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 </a:t>
            </a:r>
            <a:endParaRPr b="0" lang="en-GB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2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WHERE </a:t>
            </a:r>
            <a:r>
              <a:rPr b="0" lang="en-GB" sz="22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writer_birth_year&lt;1900;</a:t>
            </a:r>
            <a:endParaRPr b="0" lang="en-GB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3" name="Picture 17" descr=""/>
          <p:cNvPicPr/>
          <p:nvPr/>
        </p:nvPicPr>
        <p:blipFill>
          <a:blip r:embed="rId1"/>
          <a:stretch/>
        </p:blipFill>
        <p:spPr>
          <a:xfrm>
            <a:off x="1709640" y="4607640"/>
            <a:ext cx="9384480" cy="208980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524" name="Content Placeholder 7"/>
          <p:cNvGraphicFramePr/>
          <p:nvPr/>
        </p:nvGraphicFramePr>
        <p:xfrm>
          <a:off x="2665080" y="2642040"/>
          <a:ext cx="6860880" cy="1769400"/>
        </p:xfrm>
        <a:graphic>
          <a:graphicData uri="http://schemas.openxmlformats.org/drawingml/2006/table">
            <a:tbl>
              <a:tblPr/>
              <a:tblGrid>
                <a:gridCol w="1235880"/>
                <a:gridCol w="1328400"/>
                <a:gridCol w="1301760"/>
                <a:gridCol w="1463760"/>
                <a:gridCol w="1531440"/>
              </a:tblGrid>
              <a:tr h="42660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writer_id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writer_fname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writer_lname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writer_gender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writer_birth_year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100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Agatha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Christie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F </a:t>
                      </a: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uFillTx/>
                          <a:latin typeface="Calibri"/>
                          <a:ea typeface="DejaVu Sans"/>
                        </a:rPr>
                        <a:t>         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1890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101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J.R.R.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Tolkien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M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1892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102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Charles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Dickens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M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1812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103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J.K.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Rowling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F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1965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</a:tbl>
          </a:graphicData>
        </a:graphic>
      </p:graphicFrame>
      <p:sp>
        <p:nvSpPr>
          <p:cNvPr id="525" name="Rectangle: Rounded Corners 1"/>
          <p:cNvSpPr/>
          <p:nvPr/>
        </p:nvSpPr>
        <p:spPr>
          <a:xfrm>
            <a:off x="3881520" y="3067200"/>
            <a:ext cx="2621520" cy="309600"/>
          </a:xfrm>
          <a:prstGeom prst="roundRect">
            <a:avLst>
              <a:gd name="adj" fmla="val 16667"/>
            </a:avLst>
          </a:prstGeom>
          <a:solidFill>
            <a:srgbClr val="ffff66">
              <a:alpha val="33000"/>
            </a:srgb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26" name="Rectangle: Rounded Corners 2"/>
          <p:cNvSpPr/>
          <p:nvPr/>
        </p:nvSpPr>
        <p:spPr>
          <a:xfrm>
            <a:off x="3881520" y="3392280"/>
            <a:ext cx="2621520" cy="309600"/>
          </a:xfrm>
          <a:prstGeom prst="roundRect">
            <a:avLst>
              <a:gd name="adj" fmla="val 16667"/>
            </a:avLst>
          </a:prstGeom>
          <a:solidFill>
            <a:srgbClr val="ffff66">
              <a:alpha val="33000"/>
            </a:srgb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27" name="Rectangle: Rounded Corners 3"/>
          <p:cNvSpPr/>
          <p:nvPr/>
        </p:nvSpPr>
        <p:spPr>
          <a:xfrm>
            <a:off x="3881520" y="3717720"/>
            <a:ext cx="2621520" cy="309600"/>
          </a:xfrm>
          <a:prstGeom prst="roundRect">
            <a:avLst>
              <a:gd name="adj" fmla="val 16667"/>
            </a:avLst>
          </a:prstGeom>
          <a:solidFill>
            <a:srgbClr val="ffff66">
              <a:alpha val="33000"/>
            </a:srgb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28" name="Rectangle: Rounded Corners 4"/>
          <p:cNvSpPr/>
          <p:nvPr/>
        </p:nvSpPr>
        <p:spPr>
          <a:xfrm>
            <a:off x="7971480" y="3092040"/>
            <a:ext cx="989280" cy="910080"/>
          </a:xfrm>
          <a:prstGeom prst="roundRect">
            <a:avLst>
              <a:gd name="adj" fmla="val 16667"/>
            </a:avLst>
          </a:prstGeom>
          <a:solidFill>
            <a:srgbClr val="ff6600">
              <a:alpha val="32000"/>
            </a:srgb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77" dur="indefinite" restart="never" nodeType="tmRoot">
          <p:childTnLst>
            <p:seq>
              <p:cTn id="778" dur="indefinite" nodeType="mainSeq">
                <p:childTnLst>
                  <p:par>
                    <p:cTn id="779" fill="hold">
                      <p:stCondLst>
                        <p:cond delay="indefinite"/>
                      </p:stCondLst>
                      <p:childTnLst>
                        <p:par>
                          <p:cTn id="780" fill="hold">
                            <p:stCondLst>
                              <p:cond delay="0"/>
                            </p:stCondLst>
                            <p:childTnLst>
                              <p:par>
                                <p:cTn id="781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83" dur="10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784" dur="1000" fill="hold"/>
                                        <p:tgtEl>
                                          <p:spTgt spid="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85" dur="1000" fill="hold"/>
                                        <p:tgtEl>
                                          <p:spTgt spid="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6" fill="hold">
                      <p:stCondLst>
                        <p:cond delay="indefinite"/>
                      </p:stCondLst>
                      <p:childTnLst>
                        <p:par>
                          <p:cTn id="787" fill="hold">
                            <p:stCondLst>
                              <p:cond delay="0"/>
                            </p:stCondLst>
                            <p:childTnLst>
                              <p:par>
                                <p:cTn id="78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0" fill="hold">
                      <p:stCondLst>
                        <p:cond delay="indefinite"/>
                      </p:stCondLst>
                      <p:childTnLst>
                        <p:par>
                          <p:cTn id="791" fill="hold">
                            <p:stCondLst>
                              <p:cond delay="0"/>
                            </p:stCondLst>
                            <p:childTnLst>
                              <p:par>
                                <p:cTn id="79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0" fill="hold">
                      <p:stCondLst>
                        <p:cond delay="indefinite"/>
                      </p:stCondLst>
                      <p:childTnLst>
                        <p:par>
                          <p:cTn id="801" fill="hold">
                            <p:stCondLst>
                              <p:cond delay="0"/>
                            </p:stCondLst>
                            <p:childTnLst>
                              <p:par>
                                <p:cTn id="80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title"/>
          </p:nvPr>
        </p:nvSpPr>
        <p:spPr>
          <a:xfrm>
            <a:off x="838080" y="18432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Select data using where and logical condition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Rectangle 35"/>
          <p:cNvSpPr/>
          <p:nvPr/>
        </p:nvSpPr>
        <p:spPr>
          <a:xfrm>
            <a:off x="0" y="1552680"/>
            <a:ext cx="12189600" cy="5306400"/>
          </a:xfrm>
          <a:prstGeom prst="rect">
            <a:avLst/>
          </a:prstGeom>
          <a:solidFill>
            <a:srgbClr val="002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32" name="Rectangle 36"/>
          <p:cNvSpPr/>
          <p:nvPr/>
        </p:nvSpPr>
        <p:spPr>
          <a:xfrm>
            <a:off x="151200" y="1627200"/>
            <a:ext cx="11435040" cy="20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32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SELECT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writer_fname, writer_lname, writer_birth_year 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32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FROM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writers</a:t>
            </a:r>
            <a:r>
              <a:rPr b="0" lang="en-GB" sz="32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 WHERE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writer_birth_year&gt;1900 </a:t>
            </a:r>
            <a:r>
              <a:rPr b="0" lang="en-GB" sz="32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AND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 writer_gender='F'</a:t>
            </a:r>
            <a:r>
              <a:rPr b="0" lang="en-GB" sz="32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;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33" name="Content Placeholder 8"/>
          <p:cNvGraphicFramePr/>
          <p:nvPr/>
        </p:nvGraphicFramePr>
        <p:xfrm>
          <a:off x="4794480" y="3276000"/>
          <a:ext cx="6860880" cy="1769400"/>
        </p:xfrm>
        <a:graphic>
          <a:graphicData uri="http://schemas.openxmlformats.org/drawingml/2006/table">
            <a:tbl>
              <a:tblPr/>
              <a:tblGrid>
                <a:gridCol w="1235880"/>
                <a:gridCol w="1328400"/>
                <a:gridCol w="1301760"/>
                <a:gridCol w="1463760"/>
                <a:gridCol w="1531440"/>
              </a:tblGrid>
              <a:tr h="42660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writer_id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writer_fname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writer_lname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writer_gender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writer_birth_year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100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Agatha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Christie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F </a:t>
                      </a: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uFillTx/>
                          <a:latin typeface="Calibri"/>
                          <a:ea typeface="DejaVu Sans"/>
                        </a:rPr>
                        <a:t>         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1890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101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J.R.R.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Tolkien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M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1892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102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Charles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Dickens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M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1812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103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J.K.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Rowling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F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1965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</a:tbl>
          </a:graphicData>
        </a:graphic>
      </p:graphicFrame>
      <p:pic>
        <p:nvPicPr>
          <p:cNvPr id="534" name="Picture 18" descr=""/>
          <p:cNvPicPr/>
          <p:nvPr/>
        </p:nvPicPr>
        <p:blipFill>
          <a:blip r:embed="rId1"/>
          <a:stretch/>
        </p:blipFill>
        <p:spPr>
          <a:xfrm>
            <a:off x="790560" y="5211720"/>
            <a:ext cx="10341720" cy="155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5" name="Rectangle: Rounded Corners 11"/>
          <p:cNvSpPr/>
          <p:nvPr/>
        </p:nvSpPr>
        <p:spPr>
          <a:xfrm>
            <a:off x="7942680" y="4801680"/>
            <a:ext cx="989280" cy="261360"/>
          </a:xfrm>
          <a:prstGeom prst="roundRect">
            <a:avLst>
              <a:gd name="adj" fmla="val 16667"/>
            </a:avLst>
          </a:prstGeom>
          <a:solidFill>
            <a:srgbClr val="ffff66">
              <a:alpha val="33000"/>
            </a:srgb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36" name="Rectangle: Rounded Corners 12"/>
          <p:cNvSpPr/>
          <p:nvPr/>
        </p:nvSpPr>
        <p:spPr>
          <a:xfrm>
            <a:off x="3886200" y="4801680"/>
            <a:ext cx="2416680" cy="281160"/>
          </a:xfrm>
          <a:prstGeom prst="roundRect">
            <a:avLst>
              <a:gd name="adj" fmla="val 16667"/>
            </a:avLst>
          </a:prstGeom>
          <a:solidFill>
            <a:srgbClr val="ffff66">
              <a:alpha val="33000"/>
            </a:srgb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37" name="Rectangle: Rounded Corners 13"/>
          <p:cNvSpPr/>
          <p:nvPr/>
        </p:nvSpPr>
        <p:spPr>
          <a:xfrm>
            <a:off x="6496560" y="4801680"/>
            <a:ext cx="989280" cy="261360"/>
          </a:xfrm>
          <a:prstGeom prst="roundRect">
            <a:avLst>
              <a:gd name="adj" fmla="val 16667"/>
            </a:avLst>
          </a:prstGeom>
          <a:solidFill>
            <a:srgbClr val="ff6600">
              <a:alpha val="32000"/>
            </a:srgb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04" dur="indefinite" restart="never" nodeType="tmRoot">
          <p:childTnLst>
            <p:seq>
              <p:cTn id="805" dur="indefinite" nodeType="mainSeq">
                <p:childTnLst>
                  <p:par>
                    <p:cTn id="806" fill="hold">
                      <p:stCondLst>
                        <p:cond delay="indefinite"/>
                      </p:stCondLst>
                      <p:childTnLst>
                        <p:par>
                          <p:cTn id="807" fill="hold">
                            <p:stCondLst>
                              <p:cond delay="0"/>
                            </p:stCondLst>
                            <p:childTnLst>
                              <p:par>
                                <p:cTn id="808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0" dur="10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11" dur="1000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12" dur="1000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3" fill="hold">
                      <p:stCondLst>
                        <p:cond delay="indefinite"/>
                      </p:stCondLst>
                      <p:childTnLst>
                        <p:par>
                          <p:cTn id="814" fill="hold">
                            <p:stCondLst>
                              <p:cond delay="0"/>
                            </p:stCondLst>
                            <p:childTnLst>
                              <p:par>
                                <p:cTn id="8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7" fill="hold">
                      <p:stCondLst>
                        <p:cond delay="indefinite"/>
                      </p:stCondLst>
                      <p:childTnLst>
                        <p:par>
                          <p:cTn id="818" fill="hold">
                            <p:stCondLst>
                              <p:cond delay="0"/>
                            </p:stCondLst>
                            <p:childTnLst>
                              <p:par>
                                <p:cTn id="8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5" fill="hold">
                      <p:stCondLst>
                        <p:cond delay="indefinite"/>
                      </p:stCondLst>
                      <p:childTnLst>
                        <p:par>
                          <p:cTn id="826" fill="hold">
                            <p:stCondLst>
                              <p:cond delay="0"/>
                            </p:stCondLst>
                            <p:childTnLst>
                              <p:par>
                                <p:cTn id="8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Quiz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Calibri Light"/>
              <a:buAutoNum type="arabicPeriod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Select the "CustomerName" and "City" columns from the "Customers" table.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Calibri Light"/>
              <a:buAutoNum type="arabicPeriod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Select all the data from customer name, address and city for customers living in Berlin.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0" name="Picture 19" descr=""/>
          <p:cNvPicPr/>
          <p:nvPr/>
        </p:nvPicPr>
        <p:blipFill>
          <a:blip r:embed="rId1"/>
          <a:stretch/>
        </p:blipFill>
        <p:spPr>
          <a:xfrm>
            <a:off x="939960" y="3843360"/>
            <a:ext cx="6376320" cy="272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Quiz solution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Calibri Light"/>
              <a:buAutoNum type="arabicPeriod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Select the "CustomerName" and "City" columns from the "Customers" table.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Calibri Light"/>
              <a:buAutoNum type="arabicPeriod"/>
            </a:pP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Select all the data from customer name, address and city for customers living in Berlin.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3" name="Picture 20" descr=""/>
          <p:cNvPicPr/>
          <p:nvPr/>
        </p:nvPicPr>
        <p:blipFill>
          <a:blip r:embed="rId1"/>
          <a:stretch/>
        </p:blipFill>
        <p:spPr>
          <a:xfrm>
            <a:off x="687960" y="3913920"/>
            <a:ext cx="4619160" cy="197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4" name="TextBox 11"/>
          <p:cNvSpPr/>
          <p:nvPr/>
        </p:nvSpPr>
        <p:spPr>
          <a:xfrm>
            <a:off x="5570280" y="3913920"/>
            <a:ext cx="6619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1800" strike="noStrike" u="none">
                <a:solidFill>
                  <a:srgbClr val="ffc000"/>
                </a:solidFill>
                <a:effectLst/>
                <a:uFillTx/>
                <a:latin typeface="Consolas"/>
                <a:ea typeface="DejaVu Sans"/>
              </a:rPr>
              <a:t>1. SELECT CustomerName, City FROM customers;</a:t>
            </a:r>
            <a:br>
              <a:rPr sz="1800"/>
            </a:b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Box 12"/>
          <p:cNvSpPr/>
          <p:nvPr/>
        </p:nvSpPr>
        <p:spPr>
          <a:xfrm>
            <a:off x="5570280" y="4804920"/>
            <a:ext cx="66855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GB" sz="1800" strike="noStrike" u="none">
                <a:solidFill>
                  <a:srgbClr val="ffc000"/>
                </a:solidFill>
                <a:effectLst/>
                <a:uFillTx/>
                <a:latin typeface="Consolas"/>
                <a:ea typeface="DejaVu Sans"/>
              </a:rPr>
              <a:t>2. SELECT CustomerName, Address FROM customers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GB" sz="1800" strike="noStrike" u="none">
                <a:solidFill>
                  <a:srgbClr val="ffc000"/>
                </a:solidFill>
                <a:effectLst/>
                <a:uFillTx/>
                <a:latin typeface="Consolas"/>
                <a:ea typeface="DejaVu Sans"/>
              </a:rPr>
              <a:t>   WHERE City=‘Berlin’;</a:t>
            </a:r>
            <a:br>
              <a:rPr sz="1800"/>
            </a:b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Count data using count function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Rectangle 37"/>
          <p:cNvSpPr/>
          <p:nvPr/>
        </p:nvSpPr>
        <p:spPr>
          <a:xfrm>
            <a:off x="0" y="1781640"/>
            <a:ext cx="12189600" cy="5077440"/>
          </a:xfrm>
          <a:prstGeom prst="rect">
            <a:avLst/>
          </a:prstGeom>
          <a:solidFill>
            <a:srgbClr val="002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49" name="Rectangle 38"/>
          <p:cNvSpPr/>
          <p:nvPr/>
        </p:nvSpPr>
        <p:spPr>
          <a:xfrm>
            <a:off x="160920" y="1809720"/>
            <a:ext cx="11435040" cy="12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6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SELECT COUNT(</a:t>
            </a:r>
            <a:r>
              <a:rPr b="0" lang="en-GB" sz="26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writer_gender</a:t>
            </a:r>
            <a:r>
              <a:rPr b="0" lang="en-GB" sz="26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) </a:t>
            </a:r>
            <a:endParaRPr b="0" lang="en-GB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6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FROM </a:t>
            </a:r>
            <a:r>
              <a:rPr b="0" lang="en-GB" sz="26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writers</a:t>
            </a:r>
            <a:r>
              <a:rPr b="0" lang="en-GB" sz="26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 </a:t>
            </a:r>
            <a:endParaRPr b="0" lang="en-GB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6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WHERE </a:t>
            </a:r>
            <a:r>
              <a:rPr b="0" lang="en-GB" sz="26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writer_birth_year&gt;1900</a:t>
            </a:r>
            <a:r>
              <a:rPr b="0" lang="en-GB" sz="26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;</a:t>
            </a:r>
            <a:endParaRPr b="0" lang="en-GB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0" name="Picture 21" descr=""/>
          <p:cNvPicPr/>
          <p:nvPr/>
        </p:nvPicPr>
        <p:blipFill>
          <a:blip r:embed="rId1"/>
          <a:stretch/>
        </p:blipFill>
        <p:spPr>
          <a:xfrm>
            <a:off x="2180160" y="5153760"/>
            <a:ext cx="7682760" cy="152820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551" name="Content Placeholder 9"/>
          <p:cNvGraphicFramePr/>
          <p:nvPr/>
        </p:nvGraphicFramePr>
        <p:xfrm>
          <a:off x="2592000" y="3203280"/>
          <a:ext cx="6860880" cy="1769400"/>
        </p:xfrm>
        <a:graphic>
          <a:graphicData uri="http://schemas.openxmlformats.org/drawingml/2006/table">
            <a:tbl>
              <a:tblPr/>
              <a:tblGrid>
                <a:gridCol w="1235880"/>
                <a:gridCol w="1328400"/>
                <a:gridCol w="1301760"/>
                <a:gridCol w="1463760"/>
                <a:gridCol w="1531440"/>
              </a:tblGrid>
              <a:tr h="42660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writer_id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writer_fname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writer_lname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writer_gender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writer_birth_year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100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Agatha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Christie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F </a:t>
                      </a: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uFillTx/>
                          <a:latin typeface="Calibri"/>
                          <a:ea typeface="DejaVu Sans"/>
                        </a:rPr>
                        <a:t>         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1890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101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J.R.R.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Tolkien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M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1892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102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Charles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Dickens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M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1812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103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J.K.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Rowling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F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1965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</a:tbl>
          </a:graphicData>
        </a:graphic>
      </p:graphicFrame>
      <p:sp>
        <p:nvSpPr>
          <p:cNvPr id="552" name="Rectangle: Rounded Corners 9"/>
          <p:cNvSpPr/>
          <p:nvPr/>
        </p:nvSpPr>
        <p:spPr>
          <a:xfrm>
            <a:off x="7922160" y="4667400"/>
            <a:ext cx="1046520" cy="292680"/>
          </a:xfrm>
          <a:prstGeom prst="roundRect">
            <a:avLst>
              <a:gd name="adj" fmla="val 16667"/>
            </a:avLst>
          </a:prstGeom>
          <a:solidFill>
            <a:srgbClr val="ff6600">
              <a:alpha val="32000"/>
            </a:srgb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29" dur="indefinite" restart="never" nodeType="tmRoot">
          <p:childTnLst>
            <p:seq>
              <p:cTn id="830" dur="indefinite" nodeType="mainSeq">
                <p:childTnLst>
                  <p:par>
                    <p:cTn id="831" fill="hold">
                      <p:stCondLst>
                        <p:cond delay="indefinite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35" dur="10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36" dur="1000" fill="hold"/>
                                        <p:tgtEl>
                                          <p:spTgt spid="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37" dur="1000" fill="hold"/>
                                        <p:tgtEl>
                                          <p:spTgt spid="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8" fill="hold">
                      <p:stCondLst>
                        <p:cond delay="indefinite"/>
                      </p:stCondLst>
                      <p:childTnLst>
                        <p:par>
                          <p:cTn id="839" fill="hold">
                            <p:stCondLst>
                              <p:cond delay="0"/>
                            </p:stCondLst>
                            <p:childTnLst>
                              <p:par>
                                <p:cTn id="84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2" fill="hold">
                      <p:stCondLst>
                        <p:cond delay="indefinite"/>
                      </p:stCondLst>
                      <p:childTnLst>
                        <p:par>
                          <p:cTn id="843" fill="hold">
                            <p:stCondLst>
                              <p:cond delay="0"/>
                            </p:stCondLst>
                            <p:childTnLst>
                              <p:par>
                                <p:cTn id="84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6" fill="hold">
                      <p:stCondLst>
                        <p:cond delay="indefinite"/>
                      </p:stCondLst>
                      <p:childTnLst>
                        <p:par>
                          <p:cTn id="847" fill="hold">
                            <p:stCondLst>
                              <p:cond delay="0"/>
                            </p:stCondLst>
                            <p:childTnLst>
                              <p:par>
                                <p:cTn id="84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title"/>
          </p:nvPr>
        </p:nvSpPr>
        <p:spPr>
          <a:xfrm>
            <a:off x="838080" y="-8388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More on Select data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Rectangle 39"/>
          <p:cNvSpPr/>
          <p:nvPr/>
        </p:nvSpPr>
        <p:spPr>
          <a:xfrm>
            <a:off x="0" y="1056240"/>
            <a:ext cx="12189600" cy="5887440"/>
          </a:xfrm>
          <a:prstGeom prst="rect">
            <a:avLst/>
          </a:prstGeom>
          <a:solidFill>
            <a:srgbClr val="002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56" name="Rectangle 40"/>
          <p:cNvSpPr/>
          <p:nvPr/>
        </p:nvSpPr>
        <p:spPr>
          <a:xfrm>
            <a:off x="453600" y="2170800"/>
            <a:ext cx="11435040" cy="155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32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SELECT writer_gender, COUNT(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writer_gender</a:t>
            </a:r>
            <a:r>
              <a:rPr b="0" lang="en-GB" sz="32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) 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32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FROM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writers</a:t>
            </a:r>
            <a:r>
              <a:rPr b="0" lang="en-GB" sz="32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 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32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GROUP BY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writer_gender</a:t>
            </a:r>
            <a:r>
              <a:rPr b="0" lang="en-GB" sz="32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;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Rectangle 41"/>
          <p:cNvSpPr/>
          <p:nvPr/>
        </p:nvSpPr>
        <p:spPr>
          <a:xfrm>
            <a:off x="673200" y="1078200"/>
            <a:ext cx="8747640" cy="16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Verdana"/>
                <a:ea typeface="DejaVu Sans"/>
              </a:rPr>
              <a:t>The “GROUP BY” statement, groups rows that have the same values into summary rows: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Verdana"/>
                <a:ea typeface="DejaVu Sans"/>
              </a:rPr>
              <a:t>	</a:t>
            </a:r>
            <a:r>
              <a:rPr b="0" lang="en-GB" sz="2000" strike="noStrike" u="none">
                <a:solidFill>
                  <a:srgbClr val="ffffff"/>
                </a:solidFill>
                <a:effectLst/>
                <a:uFillTx/>
                <a:latin typeface="Verdana"/>
                <a:ea typeface="DejaVu Sans"/>
              </a:rPr>
              <a:t>“count the number of genders".</a:t>
            </a: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br>
              <a:rPr sz="2000"/>
            </a:br>
            <a:endParaRPr b="0" lang="en-GB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58" name="Content Placeholder 10"/>
          <p:cNvGraphicFramePr/>
          <p:nvPr/>
        </p:nvGraphicFramePr>
        <p:xfrm>
          <a:off x="5549400" y="2897640"/>
          <a:ext cx="6582600" cy="1769040"/>
        </p:xfrm>
        <a:graphic>
          <a:graphicData uri="http://schemas.openxmlformats.org/drawingml/2006/table">
            <a:tbl>
              <a:tblPr/>
              <a:tblGrid>
                <a:gridCol w="1185840"/>
                <a:gridCol w="1274760"/>
                <a:gridCol w="1249200"/>
                <a:gridCol w="1404360"/>
                <a:gridCol w="1468440"/>
              </a:tblGrid>
              <a:tr h="42660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writer_id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writer_fname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writer_lname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writer_gender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writer_birth_year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100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Agatha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Christie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F </a:t>
                      </a: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uFillTx/>
                          <a:latin typeface="Calibri"/>
                          <a:ea typeface="DejaVu Sans"/>
                        </a:rPr>
                        <a:t>         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1890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101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J.R.R.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Tolkien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M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1892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102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Charles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Dickens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M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1812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103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J.K.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Rowling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F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1965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</a:tbl>
          </a:graphicData>
        </a:graphic>
      </p:graphicFrame>
      <p:pic>
        <p:nvPicPr>
          <p:cNvPr id="559" name="Picture 22" descr=""/>
          <p:cNvPicPr/>
          <p:nvPr/>
        </p:nvPicPr>
        <p:blipFill>
          <a:blip r:embed="rId1"/>
          <a:stretch/>
        </p:blipFill>
        <p:spPr>
          <a:xfrm>
            <a:off x="2003400" y="5238000"/>
            <a:ext cx="7408080" cy="153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0" name="Rectangle: Rounded Corners 10"/>
          <p:cNvSpPr/>
          <p:nvPr/>
        </p:nvSpPr>
        <p:spPr>
          <a:xfrm>
            <a:off x="6620040" y="4773600"/>
            <a:ext cx="1245240" cy="262080"/>
          </a:xfrm>
          <a:prstGeom prst="roundRect">
            <a:avLst>
              <a:gd name="adj" fmla="val 16667"/>
            </a:avLst>
          </a:prstGeom>
          <a:solidFill>
            <a:srgbClr val="ffff66">
              <a:alpha val="33000"/>
            </a:srgb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61" name="Rectangle: Rounded Corners 14"/>
          <p:cNvSpPr/>
          <p:nvPr/>
        </p:nvSpPr>
        <p:spPr>
          <a:xfrm>
            <a:off x="6620040" y="3785040"/>
            <a:ext cx="1245240" cy="262080"/>
          </a:xfrm>
          <a:prstGeom prst="roundRect">
            <a:avLst>
              <a:gd name="adj" fmla="val 16667"/>
            </a:avLst>
          </a:prstGeom>
          <a:solidFill>
            <a:srgbClr val="ffff66">
              <a:alpha val="33000"/>
            </a:srgb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62" name="Rectangle: Rounded Corners 19"/>
          <p:cNvSpPr/>
          <p:nvPr/>
        </p:nvSpPr>
        <p:spPr>
          <a:xfrm>
            <a:off x="6620040" y="4141800"/>
            <a:ext cx="1245240" cy="262080"/>
          </a:xfrm>
          <a:prstGeom prst="roundRect">
            <a:avLst>
              <a:gd name="adj" fmla="val 16667"/>
            </a:avLst>
          </a:prstGeom>
          <a:solidFill>
            <a:srgbClr val="ffff66">
              <a:alpha val="33000"/>
            </a:srgb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63" name="Rectangle: Rounded Corners 20"/>
          <p:cNvSpPr/>
          <p:nvPr/>
        </p:nvSpPr>
        <p:spPr>
          <a:xfrm>
            <a:off x="6620040" y="4475160"/>
            <a:ext cx="1245240" cy="262080"/>
          </a:xfrm>
          <a:prstGeom prst="roundRect">
            <a:avLst>
              <a:gd name="adj" fmla="val 16667"/>
            </a:avLst>
          </a:prstGeom>
          <a:solidFill>
            <a:srgbClr val="ffff66">
              <a:alpha val="33000"/>
            </a:srgb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50" dur="indefinite" restart="never" nodeType="tmRoot">
          <p:childTnLst>
            <p:seq>
              <p:cTn id="851" dur="indefinite" nodeType="mainSeq">
                <p:childTnLst>
                  <p:par>
                    <p:cTn id="852" fill="hold">
                      <p:stCondLst>
                        <p:cond delay="indefinite"/>
                      </p:stCondLst>
                      <p:childTnLst>
                        <p:par>
                          <p:cTn id="853" fill="hold">
                            <p:stCondLst>
                              <p:cond delay="0"/>
                            </p:stCondLst>
                            <p:childTnLst>
                              <p:par>
                                <p:cTn id="854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56" dur="10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57" dur="1000" fill="hold"/>
                                        <p:tgtEl>
                                          <p:spTgt spid="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58" dur="1000" fill="hold"/>
                                        <p:tgtEl>
                                          <p:spTgt spid="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9" fill="hold">
                      <p:stCondLst>
                        <p:cond delay="indefinite"/>
                      </p:stCondLst>
                      <p:childTnLst>
                        <p:par>
                          <p:cTn id="860" fill="hold">
                            <p:stCondLst>
                              <p:cond delay="0"/>
                            </p:stCondLst>
                            <p:childTnLst>
                              <p:par>
                                <p:cTn id="861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63" dur="10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64" dur="1000" fill="hold"/>
                                        <p:tgtEl>
                                          <p:spTgt spid="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65" dur="1000" fill="hold"/>
                                        <p:tgtEl>
                                          <p:spTgt spid="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6" fill="hold">
                      <p:stCondLst>
                        <p:cond delay="indefinite"/>
                      </p:stCondLst>
                      <p:childTnLst>
                        <p:par>
                          <p:cTn id="867" fill="hold">
                            <p:stCondLst>
                              <p:cond delay="0"/>
                            </p:stCondLst>
                            <p:childTnLst>
                              <p:par>
                                <p:cTn id="86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0" fill="hold">
                      <p:stCondLst>
                        <p:cond delay="indefinite"/>
                      </p:stCondLst>
                      <p:childTnLst>
                        <p:par>
                          <p:cTn id="871" fill="hold">
                            <p:stCondLst>
                              <p:cond delay="0"/>
                            </p:stCondLst>
                            <p:childTnLst>
                              <p:par>
                                <p:cTn id="87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6" fill="hold">
                      <p:stCondLst>
                        <p:cond delay="indefinite"/>
                      </p:stCondLst>
                      <p:childTnLst>
                        <p:par>
                          <p:cTn id="877" fill="hold">
                            <p:stCondLst>
                              <p:cond delay="0"/>
                            </p:stCondLst>
                            <p:childTnLst>
                              <p:par>
                                <p:cTn id="87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2" fill="hold">
                      <p:stCondLst>
                        <p:cond delay="indefinite"/>
                      </p:stCondLst>
                      <p:childTnLst>
                        <p:par>
                          <p:cTn id="883" fill="hold">
                            <p:stCondLst>
                              <p:cond delay="0"/>
                            </p:stCondLst>
                            <p:childTnLst>
                              <p:par>
                                <p:cTn id="88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Delete data by filtering records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Rectangle 42"/>
          <p:cNvSpPr/>
          <p:nvPr/>
        </p:nvSpPr>
        <p:spPr>
          <a:xfrm>
            <a:off x="0" y="1781640"/>
            <a:ext cx="12189600" cy="5077440"/>
          </a:xfrm>
          <a:prstGeom prst="rect">
            <a:avLst/>
          </a:prstGeom>
          <a:solidFill>
            <a:srgbClr val="002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67" name="Rectangle 43"/>
          <p:cNvSpPr/>
          <p:nvPr/>
        </p:nvSpPr>
        <p:spPr>
          <a:xfrm>
            <a:off x="310680" y="1730520"/>
            <a:ext cx="11435040" cy="88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6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DELETE FROM </a:t>
            </a:r>
            <a:r>
              <a:rPr b="0" lang="en-GB" sz="26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writers</a:t>
            </a:r>
            <a:r>
              <a:rPr b="0" lang="en-GB" sz="26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 </a:t>
            </a:r>
            <a:endParaRPr b="0" lang="en-GB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6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WHERE </a:t>
            </a:r>
            <a:r>
              <a:rPr b="0" lang="en-GB" sz="26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writer_birth_year=1965</a:t>
            </a:r>
            <a:r>
              <a:rPr b="0" lang="en-GB" sz="26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;</a:t>
            </a:r>
            <a:endParaRPr b="0" lang="en-GB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Rectangle 44"/>
          <p:cNvSpPr/>
          <p:nvPr/>
        </p:nvSpPr>
        <p:spPr>
          <a:xfrm>
            <a:off x="838080" y="4609800"/>
            <a:ext cx="6093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SQL&gt; SELECT * FROM writers;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9" name="Picture 23" descr=""/>
          <p:cNvPicPr/>
          <p:nvPr/>
        </p:nvPicPr>
        <p:blipFill>
          <a:blip r:embed="rId1"/>
          <a:stretch/>
        </p:blipFill>
        <p:spPr>
          <a:xfrm>
            <a:off x="2896920" y="5001120"/>
            <a:ext cx="7236360" cy="17690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570" name="Content Placeholder 11"/>
          <p:cNvGraphicFramePr/>
          <p:nvPr/>
        </p:nvGraphicFramePr>
        <p:xfrm>
          <a:off x="2865240" y="2766240"/>
          <a:ext cx="6860880" cy="1769400"/>
        </p:xfrm>
        <a:graphic>
          <a:graphicData uri="http://schemas.openxmlformats.org/drawingml/2006/table">
            <a:tbl>
              <a:tblPr/>
              <a:tblGrid>
                <a:gridCol w="1235880"/>
                <a:gridCol w="1328400"/>
                <a:gridCol w="1301760"/>
                <a:gridCol w="1463760"/>
                <a:gridCol w="1531440"/>
              </a:tblGrid>
              <a:tr h="42660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writer_id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writer_fname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writer_lname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writer_gender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writer_birth_year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100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Agatha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Christie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F </a:t>
                      </a: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uFillTx/>
                          <a:latin typeface="Calibri"/>
                          <a:ea typeface="DejaVu Sans"/>
                        </a:rPr>
                        <a:t>         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1890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101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J.R.R.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Tolkien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M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1892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102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Charles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Dickens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M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1812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103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J.K.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Rowling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F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1965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</a:tbl>
          </a:graphicData>
        </a:graphic>
      </p:graphicFrame>
      <p:sp>
        <p:nvSpPr>
          <p:cNvPr id="571" name="Rectangle: Rounded Corners 15"/>
          <p:cNvSpPr/>
          <p:nvPr/>
        </p:nvSpPr>
        <p:spPr>
          <a:xfrm>
            <a:off x="2865240" y="4215240"/>
            <a:ext cx="6859080" cy="304920"/>
          </a:xfrm>
          <a:prstGeom prst="roundRect">
            <a:avLst>
              <a:gd name="adj" fmla="val 16667"/>
            </a:avLst>
          </a:prstGeom>
          <a:solidFill>
            <a:srgbClr val="ff0000">
              <a:alpha val="47000"/>
            </a:srgb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86" dur="indefinite" restart="never" nodeType="tmRoot">
          <p:childTnLst>
            <p:seq>
              <p:cTn id="887" dur="indefinite" nodeType="mainSeq">
                <p:childTnLst>
                  <p:par>
                    <p:cTn id="888" fill="hold">
                      <p:stCondLst>
                        <p:cond delay="indefinite"/>
                      </p:stCondLst>
                      <p:childTnLst>
                        <p:par>
                          <p:cTn id="889" fill="hold">
                            <p:stCondLst>
                              <p:cond delay="0"/>
                            </p:stCondLst>
                            <p:childTnLst>
                              <p:par>
                                <p:cTn id="890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92" dur="10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93" dur="1000" fill="hold"/>
                                        <p:tgtEl>
                                          <p:spTgt spid="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94" dur="1000" fill="hold"/>
                                        <p:tgtEl>
                                          <p:spTgt spid="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5" fill="hold">
                      <p:stCondLst>
                        <p:cond delay="indefinite"/>
                      </p:stCondLst>
                      <p:childTnLst>
                        <p:par>
                          <p:cTn id="896" fill="hold">
                            <p:stCondLst>
                              <p:cond delay="0"/>
                            </p:stCondLst>
                            <p:childTnLst>
                              <p:par>
                                <p:cTn id="8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9" fill="hold">
                      <p:stCondLst>
                        <p:cond delay="indefinite"/>
                      </p:stCondLst>
                      <p:childTnLst>
                        <p:par>
                          <p:cTn id="900" fill="hold">
                            <p:stCondLst>
                              <p:cond delay="0"/>
                            </p:stCondLst>
                            <p:childTnLst>
                              <p:par>
                                <p:cTn id="9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3" fill="hold">
                      <p:stCondLst>
                        <p:cond delay="indefinite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title"/>
          </p:nvPr>
        </p:nvSpPr>
        <p:spPr>
          <a:xfrm>
            <a:off x="612000" y="365040"/>
            <a:ext cx="1151892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ALTER TABLE: Change the structure (schema)</a:t>
            </a:r>
            <a:endParaRPr b="0" lang="en-GB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Rectangle 45"/>
          <p:cNvSpPr/>
          <p:nvPr/>
        </p:nvSpPr>
        <p:spPr>
          <a:xfrm>
            <a:off x="0" y="1781640"/>
            <a:ext cx="12189600" cy="5077440"/>
          </a:xfrm>
          <a:prstGeom prst="rect">
            <a:avLst/>
          </a:prstGeom>
          <a:solidFill>
            <a:srgbClr val="002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75" name="Rectangle 46"/>
          <p:cNvSpPr/>
          <p:nvPr/>
        </p:nvSpPr>
        <p:spPr>
          <a:xfrm>
            <a:off x="180000" y="2322360"/>
            <a:ext cx="114350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32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ALTER TABLE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writers</a:t>
            </a:r>
            <a:r>
              <a:rPr b="0" lang="en-GB" sz="32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 ADD </a:t>
            </a:r>
            <a:r>
              <a:rPr b="0" lang="en-GB" sz="32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number_of_books </a:t>
            </a:r>
            <a:r>
              <a:rPr b="0" lang="en-GB" sz="32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INTEGER;</a:t>
            </a:r>
            <a:endParaRPr b="0" lang="en-GB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Rectangle 47"/>
          <p:cNvSpPr/>
          <p:nvPr/>
        </p:nvSpPr>
        <p:spPr>
          <a:xfrm>
            <a:off x="2341440" y="3591720"/>
            <a:ext cx="6093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SQL&gt; DESCRIBE writers;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 </a:t>
            </a: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7" name="Picture 24" descr=""/>
          <p:cNvPicPr/>
          <p:nvPr/>
        </p:nvPicPr>
        <p:blipFill>
          <a:blip r:embed="rId1"/>
          <a:stretch/>
        </p:blipFill>
        <p:spPr>
          <a:xfrm>
            <a:off x="2479680" y="4073400"/>
            <a:ext cx="5817240" cy="2416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09" dur="indefinite" restart="never" nodeType="tmRoot">
          <p:childTnLst>
            <p:seq>
              <p:cTn id="910" dur="indefinite" nodeType="mainSeq">
                <p:childTnLst>
                  <p:par>
                    <p:cTn id="911" fill="hold">
                      <p:stCondLst>
                        <p:cond delay="indefinite"/>
                      </p:stCondLst>
                      <p:childTnLst>
                        <p:par>
                          <p:cTn id="912" fill="hold">
                            <p:stCondLst>
                              <p:cond delay="0"/>
                            </p:stCondLst>
                            <p:childTnLst>
                              <p:par>
                                <p:cTn id="913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15" dur="10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16" dur="1000" fill="hold"/>
                                        <p:tgtEl>
                                          <p:spTgt spid="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17" dur="1000" fill="hold"/>
                                        <p:tgtEl>
                                          <p:spTgt spid="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8" fill="hold">
                      <p:stCondLst>
                        <p:cond delay="indefinite"/>
                      </p:stCondLst>
                      <p:childTnLst>
                        <p:par>
                          <p:cTn id="919" fill="hold">
                            <p:stCondLst>
                              <p:cond delay="0"/>
                            </p:stCondLst>
                            <p:childTnLst>
                              <p:par>
                                <p:cTn id="920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22" dur="10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23" dur="1000" fill="hold"/>
                                        <p:tgtEl>
                                          <p:spTgt spid="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24" dur="1000" fill="hold"/>
                                        <p:tgtEl>
                                          <p:spTgt spid="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5" fill="hold">
                      <p:stCondLst>
                        <p:cond delay="indefinite"/>
                      </p:stCondLst>
                      <p:childTnLst>
                        <p:par>
                          <p:cTn id="926" fill="hold">
                            <p:stCondLst>
                              <p:cond delay="0"/>
                            </p:stCondLst>
                            <p:childTnLst>
                              <p:par>
                                <p:cTn id="9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Let’s add new values (update…)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Rectangle 48"/>
          <p:cNvSpPr/>
          <p:nvPr/>
        </p:nvSpPr>
        <p:spPr>
          <a:xfrm>
            <a:off x="0" y="1781640"/>
            <a:ext cx="12189600" cy="5077440"/>
          </a:xfrm>
          <a:prstGeom prst="rect">
            <a:avLst/>
          </a:prstGeom>
          <a:solidFill>
            <a:srgbClr val="002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81" name="Rectangle 49"/>
          <p:cNvSpPr/>
          <p:nvPr/>
        </p:nvSpPr>
        <p:spPr>
          <a:xfrm>
            <a:off x="524520" y="1905480"/>
            <a:ext cx="11435040" cy="49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6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UPDATE </a:t>
            </a:r>
            <a:r>
              <a:rPr b="0" lang="en-GB" sz="26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writers</a:t>
            </a:r>
            <a:r>
              <a:rPr b="0" lang="en-GB" sz="26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 </a:t>
            </a:r>
            <a:endParaRPr b="0" lang="en-GB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6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SET </a:t>
            </a:r>
            <a:r>
              <a:rPr b="0" lang="en-GB" sz="26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number_of_books=73</a:t>
            </a:r>
            <a:r>
              <a:rPr b="0" lang="en-GB" sz="26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 </a:t>
            </a:r>
            <a:endParaRPr b="0" lang="en-GB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6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WHERE </a:t>
            </a:r>
            <a:r>
              <a:rPr b="0" lang="en-GB" sz="26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writer_id=100</a:t>
            </a:r>
            <a:r>
              <a:rPr b="0" lang="en-GB" sz="26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;</a:t>
            </a:r>
            <a:endParaRPr b="0" lang="en-GB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6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UPDATE </a:t>
            </a:r>
            <a:r>
              <a:rPr b="0" lang="en-GB" sz="26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writers </a:t>
            </a:r>
            <a:endParaRPr b="0" lang="en-GB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6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SET </a:t>
            </a:r>
            <a:r>
              <a:rPr b="0" lang="en-GB" sz="26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number_of_books=26</a:t>
            </a:r>
            <a:r>
              <a:rPr b="0" lang="en-GB" sz="26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 </a:t>
            </a:r>
            <a:endParaRPr b="0" lang="en-GB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6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WHERE </a:t>
            </a:r>
            <a:r>
              <a:rPr b="0" lang="en-GB" sz="26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WRITER_ID=101</a:t>
            </a:r>
            <a:r>
              <a:rPr b="0" lang="en-GB" sz="26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;</a:t>
            </a:r>
            <a:endParaRPr b="0" lang="en-GB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6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UPDATE </a:t>
            </a:r>
            <a:r>
              <a:rPr b="0" lang="en-GB" sz="26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writers </a:t>
            </a:r>
            <a:endParaRPr b="0" lang="en-GB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6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SET </a:t>
            </a:r>
            <a:r>
              <a:rPr b="0" lang="en-GB" sz="26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number_of_books=20</a:t>
            </a:r>
            <a:r>
              <a:rPr b="0" lang="en-GB" sz="26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 </a:t>
            </a:r>
            <a:endParaRPr b="0" lang="en-GB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6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WHERE </a:t>
            </a:r>
            <a:r>
              <a:rPr b="0" lang="en-GB" sz="26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writer_id=102</a:t>
            </a:r>
            <a:r>
              <a:rPr b="0" lang="en-GB" sz="26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;</a:t>
            </a:r>
            <a:endParaRPr b="0" lang="en-GB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29" dur="indefinite" restart="never" nodeType="tmRoot">
          <p:childTnLst>
            <p:seq>
              <p:cTn id="930" dur="indefinite" nodeType="mainSeq">
                <p:childTnLst>
                  <p:par>
                    <p:cTn id="931" fill="hold">
                      <p:stCondLst>
                        <p:cond delay="indefinite"/>
                      </p:stCondLst>
                      <p:childTnLst>
                        <p:par>
                          <p:cTn id="932" fill="hold">
                            <p:stCondLst>
                              <p:cond delay="0"/>
                            </p:stCondLst>
                            <p:childTnLst>
                              <p:par>
                                <p:cTn id="933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35" dur="1000"/>
                                        <p:tgtEl>
                                          <p:spTgt spid="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36" dur="1000" fill="hold"/>
                                        <p:tgtEl>
                                          <p:spTgt spid="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37" dur="1000" fill="hold"/>
                                        <p:tgtEl>
                                          <p:spTgt spid="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8" fill="hold">
                      <p:stCondLst>
                        <p:cond delay="indefinite"/>
                      </p:stCondLst>
                      <p:childTnLst>
                        <p:par>
                          <p:cTn id="939" fill="hold">
                            <p:stCondLst>
                              <p:cond delay="0"/>
                            </p:stCondLst>
                            <p:childTnLst>
                              <p:par>
                                <p:cTn id="940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42" dur="1000"/>
                                        <p:tgtEl>
                                          <p:spTgt spid="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43" dur="1000" fill="hold"/>
                                        <p:tgtEl>
                                          <p:spTgt spid="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44" dur="1000" fill="hold"/>
                                        <p:tgtEl>
                                          <p:spTgt spid="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5" fill="hold">
                      <p:stCondLst>
                        <p:cond delay="indefinite"/>
                      </p:stCondLst>
                      <p:childTnLst>
                        <p:par>
                          <p:cTn id="946" fill="hold">
                            <p:stCondLst>
                              <p:cond delay="0"/>
                            </p:stCondLst>
                            <p:childTnLst>
                              <p:par>
                                <p:cTn id="947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49" dur="1000"/>
                                        <p:tgtEl>
                                          <p:spTgt spid="5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50" dur="1000" fill="hold"/>
                                        <p:tgtEl>
                                          <p:spTgt spid="5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51" dur="1000" fill="hold"/>
                                        <p:tgtEl>
                                          <p:spTgt spid="5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The AVG() function returns the average value of a numeric column.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Rectangle 50"/>
          <p:cNvSpPr/>
          <p:nvPr/>
        </p:nvSpPr>
        <p:spPr>
          <a:xfrm>
            <a:off x="0" y="1781640"/>
            <a:ext cx="12189600" cy="5077440"/>
          </a:xfrm>
          <a:prstGeom prst="rect">
            <a:avLst/>
          </a:prstGeom>
          <a:solidFill>
            <a:srgbClr val="002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85" name="Rectangle 51"/>
          <p:cNvSpPr/>
          <p:nvPr/>
        </p:nvSpPr>
        <p:spPr>
          <a:xfrm>
            <a:off x="553320" y="1990440"/>
            <a:ext cx="1143504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8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SELECT AVG(</a:t>
            </a: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number_of_books</a:t>
            </a:r>
            <a:r>
              <a:rPr b="0" lang="en-GB" sz="28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) FROM </a:t>
            </a: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writers</a:t>
            </a:r>
            <a:r>
              <a:rPr b="0" lang="en-GB" sz="28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 WHERE </a:t>
            </a: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writer_gender='M'</a:t>
            </a:r>
            <a:r>
              <a:rPr b="0" lang="en-GB" sz="28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;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86" name="Content Placeholder 12"/>
          <p:cNvGraphicFramePr/>
          <p:nvPr/>
        </p:nvGraphicFramePr>
        <p:xfrm>
          <a:off x="2299680" y="3220560"/>
          <a:ext cx="7916400" cy="1433880"/>
        </p:xfrm>
        <a:graphic>
          <a:graphicData uri="http://schemas.openxmlformats.org/drawingml/2006/table">
            <a:tbl>
              <a:tblPr/>
              <a:tblGrid>
                <a:gridCol w="1165680"/>
                <a:gridCol w="1253160"/>
                <a:gridCol w="1228320"/>
                <a:gridCol w="1254600"/>
                <a:gridCol w="1534680"/>
                <a:gridCol w="1480320"/>
              </a:tblGrid>
              <a:tr h="42660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writer_id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writer_fname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writer_lname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writer_gender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writer_birth_year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number_of_books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100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Agatha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Christie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F </a:t>
                      </a: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uFillTx/>
                          <a:latin typeface="Calibri"/>
                          <a:ea typeface="DejaVu Sans"/>
                        </a:rPr>
                        <a:t>         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1890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73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101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J.R.R.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Tolkien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M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1892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26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102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Charles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Dickens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M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1812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20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</a:tbl>
          </a:graphicData>
        </a:graphic>
      </p:graphicFrame>
      <p:pic>
        <p:nvPicPr>
          <p:cNvPr id="587" name="Picture 25" descr=""/>
          <p:cNvPicPr/>
          <p:nvPr/>
        </p:nvPicPr>
        <p:blipFill>
          <a:blip r:embed="rId1"/>
          <a:stretch/>
        </p:blipFill>
        <p:spPr>
          <a:xfrm>
            <a:off x="2537640" y="5083200"/>
            <a:ext cx="6246000" cy="1407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52" dur="indefinite" restart="never" nodeType="tmRoot">
          <p:childTnLst>
            <p:seq>
              <p:cTn id="953" dur="indefinite" nodeType="mainSeq">
                <p:childTnLst>
                  <p:par>
                    <p:cTn id="954" fill="hold">
                      <p:stCondLst>
                        <p:cond delay="indefinite"/>
                      </p:stCondLst>
                      <p:childTnLst>
                        <p:par>
                          <p:cTn id="955" fill="hold">
                            <p:stCondLst>
                              <p:cond delay="0"/>
                            </p:stCondLst>
                            <p:childTnLst>
                              <p:par>
                                <p:cTn id="956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58" dur="10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59" dur="1000" fill="hold"/>
                                        <p:tgtEl>
                                          <p:spTgt spid="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60" dur="1000" fill="hold"/>
                                        <p:tgtEl>
                                          <p:spTgt spid="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1" fill="hold">
                      <p:stCondLst>
                        <p:cond delay="indefinite"/>
                      </p:stCondLst>
                      <p:childTnLst>
                        <p:par>
                          <p:cTn id="962" fill="hold">
                            <p:stCondLst>
                              <p:cond delay="0"/>
                            </p:stCondLst>
                            <p:childTnLst>
                              <p:par>
                                <p:cTn id="9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5" fill="hold">
                      <p:stCondLst>
                        <p:cond delay="indefinite"/>
                      </p:stCondLst>
                      <p:childTnLst>
                        <p:par>
                          <p:cTn id="966" fill="hold">
                            <p:stCondLst>
                              <p:cond delay="0"/>
                            </p:stCondLst>
                            <p:childTnLst>
                              <p:par>
                                <p:cTn id="9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Picture 26" descr=""/>
          <p:cNvPicPr/>
          <p:nvPr/>
        </p:nvPicPr>
        <p:blipFill>
          <a:blip r:embed="rId1"/>
          <a:stretch/>
        </p:blipFill>
        <p:spPr>
          <a:xfrm>
            <a:off x="931320" y="1548360"/>
            <a:ext cx="7167240" cy="512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Summary on SQL functions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Combine function with a group by…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Rectangle 52"/>
          <p:cNvSpPr/>
          <p:nvPr/>
        </p:nvSpPr>
        <p:spPr>
          <a:xfrm>
            <a:off x="6120" y="1778040"/>
            <a:ext cx="12189600" cy="5077440"/>
          </a:xfrm>
          <a:prstGeom prst="rect">
            <a:avLst/>
          </a:prstGeom>
          <a:solidFill>
            <a:srgbClr val="002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93" name="Rectangle 53"/>
          <p:cNvSpPr/>
          <p:nvPr/>
        </p:nvSpPr>
        <p:spPr>
          <a:xfrm>
            <a:off x="550080" y="1843920"/>
            <a:ext cx="1143504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8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SELECT AVG(</a:t>
            </a: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number_of_books</a:t>
            </a:r>
            <a:r>
              <a:rPr b="0" lang="en-GB" sz="28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) 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8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FROM </a:t>
            </a: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writers</a:t>
            </a:r>
            <a:r>
              <a:rPr b="0" lang="en-GB" sz="28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 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GB" sz="28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GROUP BY </a:t>
            </a: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writer_gender</a:t>
            </a:r>
            <a:r>
              <a:rPr b="0" lang="en-GB" sz="28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;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4" name="Picture 27" descr=""/>
          <p:cNvPicPr/>
          <p:nvPr/>
        </p:nvPicPr>
        <p:blipFill>
          <a:blip r:embed="rId1"/>
          <a:stretch/>
        </p:blipFill>
        <p:spPr>
          <a:xfrm>
            <a:off x="2509200" y="5135400"/>
            <a:ext cx="6293520" cy="155952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595" name="Content Placeholder 13"/>
          <p:cNvGraphicFramePr/>
          <p:nvPr/>
        </p:nvGraphicFramePr>
        <p:xfrm>
          <a:off x="2531880" y="3407400"/>
          <a:ext cx="7916400" cy="1433880"/>
        </p:xfrm>
        <a:graphic>
          <a:graphicData uri="http://schemas.openxmlformats.org/drawingml/2006/table">
            <a:tbl>
              <a:tblPr/>
              <a:tblGrid>
                <a:gridCol w="1165680"/>
                <a:gridCol w="1253160"/>
                <a:gridCol w="1228320"/>
                <a:gridCol w="1254600"/>
                <a:gridCol w="1534680"/>
                <a:gridCol w="1480320"/>
              </a:tblGrid>
              <a:tr h="42660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writer_id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writer_fname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writer_lname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writer_gender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writer_birth_year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number_of_books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100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Agatha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Christie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F </a:t>
                      </a: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uFillTx/>
                          <a:latin typeface="Calibri"/>
                          <a:ea typeface="DejaVu Sans"/>
                        </a:rPr>
                        <a:t>         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1890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73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101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J.R.R.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Tolkien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M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1892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26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102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Charles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Dickens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M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1812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20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69" dur="indefinite" restart="never" nodeType="tmRoot">
          <p:childTnLst>
            <p:seq>
              <p:cTn id="970" dur="indefinite" nodeType="mainSeq">
                <p:childTnLst>
                  <p:par>
                    <p:cTn id="971" fill="hold">
                      <p:stCondLst>
                        <p:cond delay="indefinite"/>
                      </p:stCondLst>
                      <p:childTnLst>
                        <p:par>
                          <p:cTn id="972" fill="hold">
                            <p:stCondLst>
                              <p:cond delay="0"/>
                            </p:stCondLst>
                            <p:childTnLst>
                              <p:par>
                                <p:cTn id="973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75" dur="10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76" dur="1000" fill="hold"/>
                                        <p:tgtEl>
                                          <p:spTgt spid="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77" dur="1000" fill="hold"/>
                                        <p:tgtEl>
                                          <p:spTgt spid="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8" fill="hold">
                      <p:stCondLst>
                        <p:cond delay="indefinite"/>
                      </p:stCondLst>
                      <p:childTnLst>
                        <p:par>
                          <p:cTn id="979" fill="hold">
                            <p:stCondLst>
                              <p:cond delay="0"/>
                            </p:stCondLst>
                            <p:childTnLst>
                              <p:par>
                                <p:cTn id="98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2" fill="hold">
                      <p:stCondLst>
                        <p:cond delay="indefinite"/>
                      </p:stCondLst>
                      <p:childTnLst>
                        <p:par>
                          <p:cTn id="983" fill="hold">
                            <p:stCondLst>
                              <p:cond delay="0"/>
                            </p:stCondLst>
                            <p:childTnLst>
                              <p:par>
                                <p:cTn id="98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080" cy="132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400" strike="noStrike" u="non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More on select…</a:t>
            </a:r>
            <a:endParaRPr b="0" lang="en-GB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3080" cy="434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Rectangle 54"/>
          <p:cNvSpPr/>
          <p:nvPr/>
        </p:nvSpPr>
        <p:spPr>
          <a:xfrm>
            <a:off x="0" y="1781640"/>
            <a:ext cx="12189600" cy="5077440"/>
          </a:xfrm>
          <a:prstGeom prst="rect">
            <a:avLst/>
          </a:prstGeom>
          <a:solidFill>
            <a:srgbClr val="002a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99" name="Rectangle 55"/>
          <p:cNvSpPr/>
          <p:nvPr/>
        </p:nvSpPr>
        <p:spPr>
          <a:xfrm>
            <a:off x="524520" y="1905480"/>
            <a:ext cx="1143504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28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SELECT </a:t>
            </a: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writer_gender</a:t>
            </a:r>
            <a:r>
              <a:rPr b="0" lang="en-GB" sz="28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,SUM(</a:t>
            </a: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number_of_books</a:t>
            </a:r>
            <a:r>
              <a:rPr b="0" lang="en-GB" sz="28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),</a:t>
            </a:r>
            <a:br>
              <a:rPr sz="2800"/>
            </a:br>
            <a:r>
              <a:rPr b="0" lang="en-GB" sz="28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AVG(</a:t>
            </a: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number_of_books</a:t>
            </a:r>
            <a:r>
              <a:rPr b="0" lang="en-GB" sz="28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) FROM </a:t>
            </a: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writers</a:t>
            </a:r>
            <a:r>
              <a:rPr b="0" lang="en-GB" sz="28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 GROUP BY </a:t>
            </a:r>
            <a:r>
              <a:rPr b="0" lang="en-GB" sz="2800" strike="noStrike" u="none">
                <a:solidFill>
                  <a:srgbClr val="ffffff"/>
                </a:solidFill>
                <a:effectLst/>
                <a:uFillTx/>
                <a:latin typeface="Consolas"/>
                <a:ea typeface="DejaVu Sans"/>
              </a:rPr>
              <a:t>writer_gender</a:t>
            </a:r>
            <a:r>
              <a:rPr b="0" lang="en-GB" sz="2800" strike="noStrike" u="none">
                <a:solidFill>
                  <a:srgbClr val="5dff31"/>
                </a:solidFill>
                <a:effectLst/>
                <a:uFillTx/>
                <a:latin typeface="Consolas"/>
                <a:ea typeface="DejaVu Sans"/>
              </a:rPr>
              <a:t>;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0" name="Picture 28" descr=""/>
          <p:cNvPicPr/>
          <p:nvPr/>
        </p:nvPicPr>
        <p:blipFill>
          <a:blip r:embed="rId1"/>
          <a:stretch/>
        </p:blipFill>
        <p:spPr>
          <a:xfrm>
            <a:off x="1519200" y="4911840"/>
            <a:ext cx="9150840" cy="157860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601" name="Content Placeholder 14"/>
          <p:cNvGraphicFramePr/>
          <p:nvPr/>
        </p:nvGraphicFramePr>
        <p:xfrm>
          <a:off x="1884240" y="3087000"/>
          <a:ext cx="7916400" cy="1433880"/>
        </p:xfrm>
        <a:graphic>
          <a:graphicData uri="http://schemas.openxmlformats.org/drawingml/2006/table">
            <a:tbl>
              <a:tblPr/>
              <a:tblGrid>
                <a:gridCol w="1165680"/>
                <a:gridCol w="1253160"/>
                <a:gridCol w="1228320"/>
                <a:gridCol w="1254600"/>
                <a:gridCol w="1534680"/>
                <a:gridCol w="1480320"/>
              </a:tblGrid>
              <a:tr h="42660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writer_id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writer_fname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writer_lname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writer_gender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writer_birth_year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GB" sz="1100" strike="noStrike" u="none">
                          <a:solidFill>
                            <a:srgbClr val="5dff31"/>
                          </a:solidFill>
                          <a:effectLst/>
                          <a:uFillTx/>
                          <a:latin typeface="Consolas"/>
                          <a:ea typeface="DejaVu Sans"/>
                        </a:rPr>
                        <a:t>number_of_books</a:t>
                      </a:r>
                      <a:endParaRPr b="0" lang="en-GB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100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Agatha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Christie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F </a:t>
                      </a: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uFillTx/>
                          <a:latin typeface="Calibri"/>
                          <a:ea typeface="DejaVu Sans"/>
                        </a:rPr>
                        <a:t>         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1890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73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101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J.R.R.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Tolkien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M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1892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26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ff7"/>
                    </a:solidFill>
                  </a:tcPr>
                </a:tc>
              </a:tr>
              <a:tr h="335160"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102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Charles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Dickens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M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1812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  <a:tc>
                  <a:txBody>
                    <a:bodyPr lIns="116280" rIns="1162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GB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DejaVu Sans"/>
                        </a:rPr>
                        <a:t>20</a:t>
                      </a:r>
                      <a:endParaRPr b="0" lang="en-GB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16280" marR="11628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1dee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86" dur="indefinite" restart="never" nodeType="tmRoot">
          <p:childTnLst>
            <p:seq>
              <p:cTn id="987" dur="indefinite" nodeType="mainSeq">
                <p:childTnLst>
                  <p:par>
                    <p:cTn id="988" fill="hold">
                      <p:stCondLst>
                        <p:cond delay="indefinite"/>
                      </p:stCondLst>
                      <p:childTnLst>
                        <p:par>
                          <p:cTn id="989" fill="hold">
                            <p:stCondLst>
                              <p:cond delay="0"/>
                            </p:stCondLst>
                            <p:childTnLst>
                              <p:par>
                                <p:cTn id="990" nodeType="clickEffect" fill="hold" presetClass="entr" presetID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92" dur="10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993" dur="1000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94" dur="1000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5" fill="hold">
                      <p:stCondLst>
                        <p:cond delay="indefinite"/>
                      </p:stCondLst>
                      <p:childTnLst>
                        <p:par>
                          <p:cTn id="996" fill="hold">
                            <p:stCondLst>
                              <p:cond delay="0"/>
                            </p:stCondLst>
                            <p:childTnLst>
                              <p:par>
                                <p:cTn id="9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9" fill="hold">
                      <p:stCondLst>
                        <p:cond delay="indefinite"/>
                      </p:stCondLst>
                      <p:childTnLst>
                        <p:par>
                          <p:cTn id="1000" fill="hold">
                            <p:stCondLst>
                              <p:cond delay="0"/>
                            </p:stCondLst>
                            <p:childTnLst>
                              <p:par>
                                <p:cTn id="10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Application>LibreOffice/25.8.3.2$Windows_X86_64 LibreOffice_project/8ca8d55c161d602844f5428fa4b58097424e324e</Application>
  <AppVersion>15.0000</AppVersion>
  <Words>2832</Words>
  <Paragraphs>661</Paragraphs>
  <Company>Computer Science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2019-08-13T11:39:28Z</dcterms:created>
  <dc:creator>Stelios Sotiriadis</dc:creator>
  <dc:description/>
  <dc:language>en-GB</dc:language>
  <cp:lastModifiedBy/>
  <dcterms:modified xsi:type="dcterms:W3CDTF">2025-11-28T11:46:31Z</dcterms:modified>
  <cp:revision>1034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</vt:i4>
  </property>
  <property fmtid="{D5CDD505-2E9C-101B-9397-08002B2CF9AE}" pid="3" name="PresentationFormat">
    <vt:lpwstr>Widescreen</vt:lpwstr>
  </property>
  <property fmtid="{D5CDD505-2E9C-101B-9397-08002B2CF9AE}" pid="4" name="Slides">
    <vt:i4>47</vt:i4>
  </property>
</Properties>
</file>